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3.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a1772d16f514218" /><Relationship Type="http://schemas.openxmlformats.org/officeDocument/2006/relationships/extended-properties" Target="/docProps/app.xml" Id="R12cb7ad137314327" /><Relationship Type="http://schemas.openxmlformats.org/officeDocument/2006/relationships/officeDocument" Target="/ppt/presentation.xml" Id="Rd3f415d929174d78" /></Relationships>
</file>

<file path=ppt/presentation.xml><?xml version="1.0" encoding="utf-8"?>
<p:presentation xmlns:p="http://schemas.openxmlformats.org/presentationml/2006/main">
  <p:sldMasterIdLst>
    <p:sldMasterId xmlns:r="http://schemas.openxmlformats.org/officeDocument/2006/relationships" id="2147483648" r:id="R53ac6ad832ab4206"/>
  </p:sldMasterIdLst>
  <p:notesMasterIdLst>
    <p:notesMasterId xmlns:r="http://schemas.openxmlformats.org/officeDocument/2006/relationships" r:id="R3d08de1a4c2a474e"/>
  </p:notesMasterIdLst>
  <p:sldIdLst>
    <p:sldId xmlns:r="http://schemas.openxmlformats.org/officeDocument/2006/relationships" id="256" r:id="R4d14a094f8c0431a"/>
    <p:sldId xmlns:r="http://schemas.openxmlformats.org/officeDocument/2006/relationships" id="257" r:id="R226de77e99b549a0"/>
    <p:sldId xmlns:r="http://schemas.openxmlformats.org/officeDocument/2006/relationships" id="258" r:id="R8b191e01931c49a9"/>
    <p:sldId xmlns:r="http://schemas.openxmlformats.org/officeDocument/2006/relationships" id="259" r:id="Rc804918377d24d5d"/>
    <p:sldId xmlns:r="http://schemas.openxmlformats.org/officeDocument/2006/relationships" id="260" r:id="Re6c081899702449f"/>
    <p:sldId xmlns:r="http://schemas.openxmlformats.org/officeDocument/2006/relationships" id="261" r:id="Rb1283e22bdff4b48"/>
    <p:sldId xmlns:r="http://schemas.openxmlformats.org/officeDocument/2006/relationships" id="262" r:id="R5f051c44b5de479e"/>
    <p:sldId xmlns:r="http://schemas.openxmlformats.org/officeDocument/2006/relationships" id="263" r:id="R45da8364f40848f1"/>
    <p:sldId xmlns:r="http://schemas.openxmlformats.org/officeDocument/2006/relationships" id="264" r:id="Rd6d5982c6d2c491d"/>
  </p:sldIdLst>
  <p:sldSz cx="9144000" cy="11430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60ca479be2554a5d" /><Relationship Type="http://schemas.openxmlformats.org/officeDocument/2006/relationships/slideMaster" Target="/ppt/slideMasters/slideMaster1.xml" Id="R53ac6ad832ab4206" /><Relationship Type="http://schemas.openxmlformats.org/officeDocument/2006/relationships/notesMaster" Target="/ppt/notesMasters/notesMaster1.xml" Id="R3d08de1a4c2a474e" /><Relationship Type="http://schemas.openxmlformats.org/officeDocument/2006/relationships/presProps" Target="/ppt/presProps.xml" Id="Rd03f38909eb144a8" /><Relationship Type="http://schemas.openxmlformats.org/officeDocument/2006/relationships/viewProps" Target="/ppt/viewProps.xml" Id="Re982dc79df234346" /><Relationship Type="http://schemas.openxmlformats.org/officeDocument/2006/relationships/tableStyles" Target="/ppt/tableStyles.xml" Id="Rd380f6590b03443a" /><Relationship Type="http://schemas.openxmlformats.org/officeDocument/2006/relationships/slide" Target="/ppt/slides/slide1.xml" Id="R4d14a094f8c0431a" /><Relationship Type="http://schemas.openxmlformats.org/officeDocument/2006/relationships/slide" Target="/ppt/slides/slide2.xml" Id="R226de77e99b549a0" /><Relationship Type="http://schemas.openxmlformats.org/officeDocument/2006/relationships/slide" Target="/ppt/slides/slide3.xml" Id="R8b191e01931c49a9" /><Relationship Type="http://schemas.openxmlformats.org/officeDocument/2006/relationships/slide" Target="/ppt/slides/slide4.xml" Id="Rc804918377d24d5d" /><Relationship Type="http://schemas.openxmlformats.org/officeDocument/2006/relationships/slide" Target="/ppt/slides/slide5.xml" Id="Re6c081899702449f" /><Relationship Type="http://schemas.openxmlformats.org/officeDocument/2006/relationships/slide" Target="/ppt/slides/slide6.xml" Id="Rb1283e22bdff4b48" /><Relationship Type="http://schemas.openxmlformats.org/officeDocument/2006/relationships/slide" Target="/ppt/slides/slide7.xml" Id="R5f051c44b5de479e" /><Relationship Type="http://schemas.openxmlformats.org/officeDocument/2006/relationships/slide" Target="/ppt/slides/slide8.xml" Id="R45da8364f40848f1" /><Relationship Type="http://schemas.openxmlformats.org/officeDocument/2006/relationships/slide" Target="/ppt/slides/slide9.xml" Id="Rd6d5982c6d2c49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7bcde7de7884a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1cd4e7424844b8" /><Relationship Type="http://schemas.openxmlformats.org/officeDocument/2006/relationships/notesMaster" Target="/ppt/notesMasters/notesMaster1.xml" Id="R08b349d974394e2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6c4da5201b84214" /><Relationship Type="http://schemas.openxmlformats.org/officeDocument/2006/relationships/notesMaster" Target="/ppt/notesMasters/notesMaster1.xml" Id="Ra6f21b0f33cf4a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e6ada92676a345c4" /><Relationship Type="http://schemas.openxmlformats.org/officeDocument/2006/relationships/notesMaster" Target="/ppt/notesMasters/notesMaster1.xml" Id="R8ed62a079d4642f1"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ab7decef3342d3" /><Relationship Type="http://schemas.openxmlformats.org/officeDocument/2006/relationships/notesMaster" Target="/ppt/notesMasters/notesMaster1.xml" Id="Rf63f7dbf71c447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ef542b96f7184279" /><Relationship Type="http://schemas.openxmlformats.org/officeDocument/2006/relationships/notesMaster" Target="/ppt/notesMasters/notesMaster1.xml" Id="Re950bf5205d84ecf"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ace6a5e2184134" /><Relationship Type="http://schemas.openxmlformats.org/officeDocument/2006/relationships/notesMaster" Target="/ppt/notesMasters/notesMaster1.xml" Id="Rd4c3a7d8dd584c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6f8ab10367524377" /><Relationship Type="http://schemas.openxmlformats.org/officeDocument/2006/relationships/notesMaster" Target="/ppt/notesMasters/notesMaster1.xml" Id="Rd863a5520044496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7d113ad4ff548a3" /><Relationship Type="http://schemas.openxmlformats.org/officeDocument/2006/relationships/notesMaster" Target="/ppt/notesMasters/notesMaster1.xml" Id="Rb77cbea9ab4d4538" /></Relationships>
</file>

<file path=ppt/notesSlides/_rels/notesSlide9.xml.rels>&#65279;<?xml version="1.0" encoding="utf-8"?><Relationships xmlns="http://schemas.openxmlformats.org/package/2006/relationships"><Relationship Type="http://schemas.openxmlformats.org/officeDocument/2006/relationships/slide" Target="/ppt/slides/slide9.xml" Id="Rf01e84eb22484396" /><Relationship Type="http://schemas.openxmlformats.org/officeDocument/2006/relationships/notesMaster" Target="/ppt/notesMasters/notesMaster1.xml" Id="R1d7c8a64607249e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Scope: Comune di Bergamo. This deck summarises the complete v03 report and scenario calculations. No market-average profit is claimed.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https://www.dati.lombardia.it/d/mzxz-sz25 and https://www.dati.lombardia.it/d/vyxt-7jdx. 2019 791353, 2024 1208189 guest nights. Regional monthly and annual totals reconcile.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Chiodelli and Cassiani (2026), Chi gestisce Airbnb a Bergamo e dintorni, FULL, pp. 16–20. https://www.researchgate.net/publication/405451146_Chi_gestisce_Airbnb_a_Bergamo_e_dintorni_L%27evoluzione_del_fenomeno_degli_affitti_brevi_tra_il_2017_e_il_2024 . FULL and AirDNA are not independent corroborating 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https://assaeroporti.com/statistiche/?month=12&amp;selectedYear=2025; all years 2019–2025 use January–December totals, checked against passenger detail. City 2025: https://www.provincia.bergamo.it/cnvpbgrm/po/mostra_news.php?area=H&amp;id=2591 . 2025 city and 2024 regional vintages differ. See data/airport-city-annual.json and airport_analysis.py.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annual cash values 6544.50 and 6732. Rounded display values use nearest EUR. Both assume eligible 21% tax; STR assumes 15.5% host fee. Fixed STR 3000, LTR 1800. Owner time, acquisition, financing and incremental preparation excluded. EUR115 is not a verified comparable gross ADR.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scenario calculations: n*(gross ADR*0.635−20)−3000. Sensitivity assumptions, not confidence intervals or forecasts. EUR rounding is half-up in this slide (e.g. 6382.50 to 6383, 10135.50 to10136). LTR sensitivity and differential fixed costs are in the complete report.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 setup: ceil((6732+3000)/53.025)=184. EUR15000 incremental setup/five years: ceil((6732+3000+3000)/53.025)=241. Five-year recovery is illustrative and undiscounted, not observed investor preference.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Research correction, 14 October 2026. All 21 saved records were reviewed; 17 numeric prices average EUR 1014.12, median EUR 1000, range EUR 700–1400, sample SD EUR 216.25. Four prices are missing. Geographic membership, fees and property duplication are not fully verified. EUR 900 remains a scenario assumption. A separate historical six-record subgroup has arithmetic mean EUR 1000 and median EUR 900. Source: data/listings.csv and results/listing-review.json.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https://github.com/pedramkj/bergamo-rental-strategy-analysis . Author: https://www.linkedin.com/in/pedram-kojouri/ . No general city-wide conversion recommendation. Full report contains assumptions, source URLs, limitations and unresolved legal eligibility checks.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5feb3e15b74a53"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8e5ade348e4dcf" /><Relationship Type="http://schemas.openxmlformats.org/officeDocument/2006/relationships/slideLayout" Target="/ppt/slideLayouts/slideLayout1.xml" Id="R8200c0077a074e7e"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00c0077a074e7e"/>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a46d4174fcd4d27" /><Relationship Type="http://schemas.openxmlformats.org/officeDocument/2006/relationships/hyperlink" Target="https://www.linkedin.com/in/pedram-kojouri/" TargetMode="External" Id="R43cfadd6e1834d34" /><Relationship Type="http://schemas.openxmlformats.org/officeDocument/2006/relationships/notesSlide" Target="/ppt/notesSlides/notesSlide1.xml" Id="R5e298da31f7b490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55f35e8ab243a2" /><Relationship Type="http://schemas.openxmlformats.org/officeDocument/2006/relationships/hyperlink" Target="https://www.linkedin.com/in/pedram-kojouri/" TargetMode="External" Id="R8f8c5dcbefd44d35" /><Relationship Type="http://schemas.openxmlformats.org/officeDocument/2006/relationships/chart" Target="/ppt/slides/charts/chart1.xml" Id="Rdf1b3d50699c4ece" /><Relationship Type="http://schemas.openxmlformats.org/officeDocument/2006/relationships/notesSlide" Target="/ppt/notesSlides/notesSlide2.xml" Id="R18bdce95dea44a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b9074919cab4a5e" /><Relationship Type="http://schemas.openxmlformats.org/officeDocument/2006/relationships/hyperlink" Target="https://www.linkedin.com/in/pedram-kojouri/" TargetMode="External" Id="R500ad9f1cdf742c9" /><Relationship Type="http://schemas.openxmlformats.org/officeDocument/2006/relationships/chart" Target="/ppt/slides/charts/chart2.xml" Id="R93c6282d739f414c" /><Relationship Type="http://schemas.openxmlformats.org/officeDocument/2006/relationships/notesSlide" Target="/ppt/notesSlides/notesSlide3.xml" Id="R7f4b03128103411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9c471b96439460c" /><Relationship Type="http://schemas.openxmlformats.org/officeDocument/2006/relationships/hyperlink" Target="https://www.linkedin.com/in/pedram-kojouri/" TargetMode="External" Id="Rfba92c8130e448fe" /><Relationship Type="http://schemas.openxmlformats.org/officeDocument/2006/relationships/chart" Target="/ppt/slides/charts/chart3.xml" Id="R9e68216ed0c6449c" /><Relationship Type="http://schemas.openxmlformats.org/officeDocument/2006/relationships/notesSlide" Target="/ppt/notesSlides/notesSlide4.xml" Id="Rd780033ddf68437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240d15d90b446e0" /><Relationship Type="http://schemas.openxmlformats.org/officeDocument/2006/relationships/hyperlink" Target="https://www.linkedin.com/in/pedram-kojouri/" TargetMode="External" Id="R0090792ea43a4da2" /><Relationship Type="http://schemas.openxmlformats.org/officeDocument/2006/relationships/notesSlide" Target="/ppt/notesSlides/notesSlide5.xml" Id="Rc535be3da1a84c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d88c63bbaca45c0" /><Relationship Type="http://schemas.openxmlformats.org/officeDocument/2006/relationships/hyperlink" Target="https://www.linkedin.com/in/pedram-kojouri/" TargetMode="External" Id="R748177b24e444e05" /><Relationship Type="http://schemas.openxmlformats.org/officeDocument/2006/relationships/notesSlide" Target="/ppt/notesSlides/notesSlide6.xml" Id="R3e2a52f9868242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49247ad38184b0a" /><Relationship Type="http://schemas.openxmlformats.org/officeDocument/2006/relationships/hyperlink" Target="https://www.linkedin.com/in/pedram-kojouri/" TargetMode="External" Id="R482f0f520aff425d" /><Relationship Type="http://schemas.openxmlformats.org/officeDocument/2006/relationships/chart" Target="/ppt/slides/charts/chart4.xml" Id="Ra2aebaffdc7940c7" /><Relationship Type="http://schemas.openxmlformats.org/officeDocument/2006/relationships/notesSlide" Target="/ppt/notesSlides/notesSlide7.xml" Id="R6fa354160588444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e061ad355304bdc" /><Relationship Type="http://schemas.openxmlformats.org/officeDocument/2006/relationships/hyperlink" Target="https://www.linkedin.com/in/pedram-kojouri/" TargetMode="External" Id="R3f58359c8bfe48b9" /><Relationship Type="http://schemas.openxmlformats.org/officeDocument/2006/relationships/notesSlide" Target="/ppt/notesSlides/notesSlide8.xml" Id="R9d867dc304144a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2dc19dda6d146a0" /><Relationship Type="http://schemas.openxmlformats.org/officeDocument/2006/relationships/hyperlink" Target="https://www.linkedin.com/in/pedram-kojouri/" TargetMode="External" Id="Rc0da318bfdc14087" /><Relationship Type="http://schemas.openxmlformats.org/officeDocument/2006/relationships/hyperlink" Target="https://github.com/pedramkj/bergamo-rental-strategy-analysis" TargetMode="External" Id="R34e35381928c46b5" /><Relationship Type="http://schemas.openxmlformats.org/officeDocument/2006/relationships/hyperlink" Target="https://github.com/pedramkj/bergamo-rental-strategy-analysis" TargetMode="External" Id="Rebc0aac6570f44d3" /><Relationship Type="http://schemas.openxmlformats.org/officeDocument/2006/relationships/hyperlink" Target="https://www.linkedin.com/in/pedram-kojouri/" TargetMode="External" Id="R23f052c4eb714e51" /><Relationship Type="http://schemas.openxmlformats.org/officeDocument/2006/relationships/notesSlide" Target="/ppt/notesSlides/notesSlide9.xml" Id="Re6e2a94c8cdc47b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City guest nights</c:v>
          </c:tx>
          <c:spPr>
            <a:solidFill xmlns:a="http://schemas.openxmlformats.org/drawingml/2006/main">
              <a:srgbClr val="1C4C74"/>
            </a:solidFill>
            <a:ln xmlns:a="http://schemas.openxmlformats.org/drawingml/2006/main" w="28575">
              <a:solidFill>
                <a:srgbClr val="1C4C74"/>
              </a:solidFill>
            </a:ln>
          </c:spPr>
          <c:invertIfNegative val="0"/>
          <c:cat>
            <c:numRef>
              <c:f>'Chart Data'!$A$2:$A$3</c:f>
              <c:numCache>
                <c:formatCode>General</c:formatCode>
                <c:ptCount val="2"/>
                <c:pt idx="0">
                  <c:v>2019</c:v>
                </c:pt>
                <c:pt idx="1">
                  <c:v>2024</c:v>
                </c:pt>
              </c:numCache>
            </c:numRef>
          </c:cat>
          <c:val>
            <c:numRef>
              <c:f>'Chart Data'!$B$2:$B$3</c:f>
              <c:numCache>
                <c:formatCode>0</c:formatCode>
                <c:ptCount val="2"/>
                <c:pt idx="0">
                  <c:v>791353</c:v>
                </c:pt>
                <c:pt idx="1">
                  <c:v>1208189</c:v>
                </c:pt>
              </c:numCache>
            </c:numRef>
          </c:val>
        </c:ser>
        <c:dLbls>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crossAx val="48672768"/>
      </c:catAx>
      <c:valAx>
        <c:axId val="48672768"/>
        <c:scaling>
          <c:orientation val="minMax"/>
          <c:max val="1400000"/>
          <c:min val="0"/>
        </c:scaling>
        <c:delete val="0"/>
        <c:axPos val="l"/>
        <c:majorGridlines>
          <c:spPr>
            <a:ln xmlns:a="http://schemas.openxmlformats.org/drawingml/2006/main" w="9525">
              <a:solidFill>
                <a:srgbClr val="D9E2E8"/>
              </a:solidFill>
            </a:ln>
          </c:spPr>
        </c:majorGridlines>
        <c:title>
          <c:tx>
            <c:rich>
              <a:bodyPr xmlns:a="http://schemas.openxmlformats.org/drawingml/2006/main"/>
              <a:lstStyle xmlns:a="http://schemas.openxmlformats.org/drawingml/2006/main"/>
              <a:p xmlns:a="http://schemas.openxmlformats.org/drawingml/2006/main">
                <a:r>
                  <a:rPr sz="1650">
                    <a:solidFill>
                      <a:srgbClr val="0D233A"/>
                    </a:solidFill>
                    <a:latin typeface="Aptos"/>
                    <a:ea typeface="Aptos"/>
                    <a:cs typeface="Aptos"/>
                  </a:rPr>
                  <a:t>Guest nights</a:t>
                </a:r>
              </a:p>
            </c:rich>
          </c:tx>
          <c:overlay val="0"/>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crossAx val="48650112"/>
        <c:crossBetween val="between"/>
      </c:valAx>
      <c:spPr>
        <a:solidFill xmlns:a="http://schemas.openxmlformats.org/drawingml/2006/main">
          <a:srgbClr val="F6F8FA"/>
        </a:solidFill>
      </c:spPr>
    </c:plotArea>
    <c:plotVisOnly val="1"/>
  </c:chart>
  <c:spPr>
    <a:solidFill xmlns:a="http://schemas.openxmlformats.org/drawingml/2006/main">
      <a:srgbClr val="F6F8FA"/>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Occupancy percent</c:v>
          </c:tx>
          <c:spPr>
            <a:solidFill xmlns:a="http://schemas.openxmlformats.org/drawingml/2006/main">
              <a:srgbClr val="32B8B2"/>
            </a:solidFill>
            <a:ln xmlns:a="http://schemas.openxmlformats.org/drawingml/2006/main" w="28575">
              <a:solidFill>
                <a:srgbClr val="32B8B2"/>
              </a:solidFill>
            </a:ln>
          </c:spPr>
          <c:invertIfNegative val="0"/>
          <c:cat>
            <c:numRef>
              <c:f>'Chart Data'!$A$2:$A$3</c:f>
              <c:numCache>
                <c:formatCode>General</c:formatCode>
                <c:ptCount val="2"/>
                <c:pt idx="0">
                  <c:v>2023</c:v>
                </c:pt>
                <c:pt idx="1">
                  <c:v>2024</c:v>
                </c:pt>
              </c:numCache>
            </c:numRef>
          </c:cat>
          <c:val>
            <c:numRef>
              <c:f>'Chart Data'!$B$2:$B$3</c:f>
              <c:numCache>
                <c:formatCode>0</c:formatCode>
                <c:ptCount val="2"/>
                <c:pt idx="0">
                  <c:v>57.8</c:v>
                </c:pt>
                <c:pt idx="1">
                  <c:v>54</c:v>
                </c:pt>
              </c:numCache>
            </c:numRef>
          </c:val>
        </c:ser>
        <c:dLbls>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crossAx val="48672768"/>
      </c:catAx>
      <c:valAx>
        <c:axId val="48672768"/>
        <c:scaling>
          <c:orientation val="minMax"/>
          <c:max val="70"/>
          <c:min val="0"/>
        </c:scaling>
        <c:delete val="0"/>
        <c:axPos val="l"/>
        <c:majorGridlines>
          <c:spPr>
            <a:ln xmlns:a="http://schemas.openxmlformats.org/drawingml/2006/main" w="9525">
              <a:solidFill>
                <a:srgbClr val="D9E2E8"/>
              </a:solidFill>
            </a:ln>
          </c:spPr>
        </c:majorGridlines>
        <c:title>
          <c:tx>
            <c:rich>
              <a:bodyPr xmlns:a="http://schemas.openxmlformats.org/drawingml/2006/main"/>
              <a:lstStyle xmlns:a="http://schemas.openxmlformats.org/drawingml/2006/main"/>
              <a:p xmlns:a="http://schemas.openxmlformats.org/drawingml/2006/main">
                <a:r>
                  <a:rPr sz="1650">
                    <a:solidFill>
                      <a:srgbClr val="0D233A"/>
                    </a:solidFill>
                    <a:latin typeface="Aptos"/>
                    <a:ea typeface="Aptos"/>
                    <a:cs typeface="Aptos"/>
                  </a:rPr>
                  <a:t>Occupancy (%)</a:t>
                </a:r>
              </a:p>
            </c:rich>
          </c:tx>
          <c:overlay val="0"/>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crossAx val="48650112"/>
        <c:crossBetween val="between"/>
      </c:valAx>
      <c:spPr>
        <a:solidFill xmlns:a="http://schemas.openxmlformats.org/drawingml/2006/main">
          <a:srgbClr val="F6F8FA"/>
        </a:solidFill>
      </c:spPr>
    </c:plotArea>
    <c:plotVisOnly val="1"/>
  </c:chart>
  <c:spPr>
    <a:solidFill xmlns:a="http://schemas.openxmlformats.org/drawingml/2006/main">
      <a:srgbClr val="F6F8FA"/>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BGY passengers</c:v>
          </c:tx>
          <c:spPr>
            <a:solidFill xmlns:a="http://schemas.openxmlformats.org/drawingml/2006/main">
              <a:srgbClr val="64798B"/>
            </a:solidFill>
            <a:ln xmlns:a="http://schemas.openxmlformats.org/drawingml/2006/main" w="28575">
              <a:solidFill>
                <a:srgbClr val="64798B"/>
              </a:solidFill>
            </a:ln>
          </c:spPr>
          <c:marker>
            <c:symbol val="circle"/>
            <c:size val="6"/>
            <c:spPr>
              <a:solidFill xmlns:a="http://schemas.openxmlformats.org/drawingml/2006/main">
                <a:srgbClr val="64798B"/>
              </a:solidFill>
            </c:spPr>
          </c:marker>
          <c:cat>
            <c:numRef>
              <c:f>'Chart Data'!$A$2:$A$8</c:f>
              <c:numCache>
                <c:formatCode>General</c:formatCode>
                <c:ptCount val="7"/>
                <c:pt idx="0">
                  <c:v>2019</c:v>
                </c:pt>
                <c:pt idx="1">
                  <c:v>2020</c:v>
                </c:pt>
                <c:pt idx="2">
                  <c:v>2021</c:v>
                </c:pt>
                <c:pt idx="3">
                  <c:v>2022</c:v>
                </c:pt>
                <c:pt idx="4">
                  <c:v>2023</c:v>
                </c:pt>
                <c:pt idx="5">
                  <c:v>2024</c:v>
                </c:pt>
                <c:pt idx="6">
                  <c:v>2025</c:v>
                </c:pt>
              </c:numCache>
            </c:numRef>
          </c:cat>
          <c:val>
            <c:numRef>
              <c:f>'Chart Data'!$B$2:$B$8</c:f>
              <c:numCache>
                <c:formatCode>0</c:formatCode>
                <c:ptCount val="7"/>
                <c:pt idx="0">
                  <c:v>100</c:v>
                </c:pt>
                <c:pt idx="1">
                  <c:v>27.66</c:v>
                </c:pt>
                <c:pt idx="2">
                  <c:v>46.67</c:v>
                </c:pt>
                <c:pt idx="3">
                  <c:v>94.94</c:v>
                </c:pt>
                <c:pt idx="4">
                  <c:v>115.28</c:v>
                </c:pt>
                <c:pt idx="5">
                  <c:v>125.23</c:v>
                </c:pt>
                <c:pt idx="6">
                  <c:v>122.23</c:v>
                </c:pt>
              </c:numCache>
            </c:numRef>
          </c:val>
          <c:smooth val="0"/>
        </c:ser>
        <c:ser>
          <c:idx val="1"/>
          <c:order val="1"/>
          <c:tx>
            <c:v>City guest nights</c:v>
          </c:tx>
          <c:spPr>
            <a:solidFill xmlns:a="http://schemas.openxmlformats.org/drawingml/2006/main">
              <a:srgbClr val="32B8B2"/>
            </a:solidFill>
            <a:ln xmlns:a="http://schemas.openxmlformats.org/drawingml/2006/main" w="28575">
              <a:solidFill>
                <a:srgbClr val="32B8B2"/>
              </a:solidFill>
            </a:ln>
          </c:spPr>
          <c:marker>
            <c:symbol val="circle"/>
            <c:size val="6"/>
            <c:spPr>
              <a:solidFill xmlns:a="http://schemas.openxmlformats.org/drawingml/2006/main">
                <a:srgbClr val="32B8B2"/>
              </a:solidFill>
            </c:spPr>
          </c:marker>
          <c:cat>
            <c:numRef>
              <c:f>'Chart Data'!$C$2:$C$8</c:f>
              <c:numCache>
                <c:formatCode>General</c:formatCode>
                <c:ptCount val="7"/>
                <c:pt idx="0">
                  <c:v>2019</c:v>
                </c:pt>
                <c:pt idx="1">
                  <c:v>2020</c:v>
                </c:pt>
                <c:pt idx="2">
                  <c:v>2021</c:v>
                </c:pt>
                <c:pt idx="3">
                  <c:v>2022</c:v>
                </c:pt>
                <c:pt idx="4">
                  <c:v>2023</c:v>
                </c:pt>
                <c:pt idx="5">
                  <c:v>2024</c:v>
                </c:pt>
                <c:pt idx="6">
                  <c:v>2025</c:v>
                </c:pt>
              </c:numCache>
            </c:numRef>
          </c:cat>
          <c:val>
            <c:numRef>
              <c:f>'Chart Data'!$D$2:$D$8</c:f>
              <c:numCache>
                <c:formatCode>0</c:formatCode>
                <c:ptCount val="7"/>
                <c:pt idx="0">
                  <c:v>100</c:v>
                </c:pt>
                <c:pt idx="1">
                  <c:v>28.67</c:v>
                </c:pt>
                <c:pt idx="2">
                  <c:v>51.77</c:v>
                </c:pt>
                <c:pt idx="3">
                  <c:v>92.79</c:v>
                </c:pt>
                <c:pt idx="4">
                  <c:v>128.54</c:v>
                </c:pt>
                <c:pt idx="5">
                  <c:v>152.67</c:v>
                </c:pt>
                <c:pt idx="6">
                  <c:v>171.85</c:v>
                </c:pt>
              </c:numCache>
            </c:numRef>
          </c:val>
          <c:smooth val="0"/>
        </c:ser>
        <c:dLbls>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crossAx val="48672768"/>
      </c:catAx>
      <c:valAx>
        <c:axId val="48672768"/>
        <c:scaling>
          <c:orientation val="minMax"/>
          <c:max val="180"/>
          <c:min val="0"/>
        </c:scaling>
        <c:delete val="0"/>
        <c:axPos val="l"/>
        <c:majorGridlines>
          <c:spPr>
            <a:ln xmlns:a="http://schemas.openxmlformats.org/drawingml/2006/main" w="9525">
              <a:solidFill>
                <a:srgbClr val="D9E2E8"/>
              </a:solidFill>
            </a:ln>
          </c:spPr>
        </c:majorGridlines>
        <c:title>
          <c:tx>
            <c:rich>
              <a:bodyPr xmlns:a="http://schemas.openxmlformats.org/drawingml/2006/main"/>
              <a:lstStyle xmlns:a="http://schemas.openxmlformats.org/drawingml/2006/main"/>
              <a:p xmlns:a="http://schemas.openxmlformats.org/drawingml/2006/main">
                <a:r>
                  <a:rPr sz="1650">
                    <a:solidFill>
                      <a:srgbClr val="0D233A"/>
                    </a:solidFill>
                    <a:latin typeface="Aptos"/>
                    <a:ea typeface="Aptos"/>
                    <a:cs typeface="Aptos"/>
                  </a:rPr>
                  <a:t>Index, 2019 = 100</a:t>
                </a:r>
              </a:p>
            </c:rich>
          </c:tx>
          <c:overlay val="0"/>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crossAx val="48650112"/>
        <c:crossBetween val="between"/>
      </c:valAx>
      <c:spPr>
        <a:solidFill xmlns:a="http://schemas.openxmlformats.org/drawingml/2006/main">
          <a:srgbClr val="F6F8FA"/>
        </a:solidFill>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legend>
    <c:plotVisOnly val="1"/>
  </c:chart>
  <c:spPr>
    <a:solidFill xmlns:a="http://schemas.openxmlformats.org/drawingml/2006/main">
      <a:srgbClr val="F6F8FA"/>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Required nights</c:v>
          </c:tx>
          <c:spPr>
            <a:solidFill xmlns:a="http://schemas.openxmlformats.org/drawingml/2006/main">
              <a:srgbClr val="1C4C74"/>
            </a:solidFill>
            <a:ln xmlns:a="http://schemas.openxmlformats.org/drawingml/2006/main" w="28575">
              <a:solidFill>
                <a:srgbClr val="1C4C74"/>
              </a:solidFill>
            </a:ln>
          </c:spPr>
          <c:invertIfNegative val="0"/>
          <c:cat>
            <c:strRef>
              <c:f>'Chart Data'!$A$2:$A$5</c:f>
              <c:strCache>
                <c:ptCount val="4"/>
                <c:pt idx="0">
                  <c:v>€0</c:v>
                </c:pt>
                <c:pt idx="1">
                  <c:v>€5,000</c:v>
                </c:pt>
                <c:pt idx="2">
                  <c:v>€10,000</c:v>
                </c:pt>
                <c:pt idx="3">
                  <c:v>€15,000</c:v>
                </c:pt>
              </c:strCache>
            </c:strRef>
          </c:cat>
          <c:val>
            <c:numRef>
              <c:f>'Chart Data'!$B$2:$B$5</c:f>
              <c:numCache>
                <c:formatCode>0</c:formatCode>
                <c:ptCount val="4"/>
                <c:pt idx="0">
                  <c:v>184</c:v>
                </c:pt>
                <c:pt idx="1">
                  <c:v>203</c:v>
                </c:pt>
                <c:pt idx="2">
                  <c:v>222</c:v>
                </c:pt>
                <c:pt idx="3">
                  <c:v>241</c:v>
                </c:pt>
              </c:numCache>
            </c:numRef>
          </c:val>
        </c:ser>
        <c:dLbls>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crossAx val="48672768"/>
      </c:catAx>
      <c:valAx>
        <c:axId val="48672768"/>
        <c:scaling>
          <c:orientation val="minMax"/>
          <c:max val="280"/>
          <c:min val="0"/>
        </c:scaling>
        <c:delete val="0"/>
        <c:axPos val="l"/>
        <c:majorGridlines>
          <c:spPr>
            <a:ln xmlns:a="http://schemas.openxmlformats.org/drawingml/2006/main" w="9525">
              <a:solidFill>
                <a:srgbClr val="D9E2E8"/>
              </a:solidFill>
            </a:ln>
          </c:spPr>
        </c:majorGridlines>
        <c:title>
          <c:tx>
            <c:rich>
              <a:bodyPr xmlns:a="http://schemas.openxmlformats.org/drawingml/2006/main"/>
              <a:lstStyle xmlns:a="http://schemas.openxmlformats.org/drawingml/2006/main"/>
              <a:p xmlns:a="http://schemas.openxmlformats.org/drawingml/2006/main">
                <a:r>
                  <a:rPr sz="1650">
                    <a:solidFill>
                      <a:srgbClr val="0D233A"/>
                    </a:solidFill>
                    <a:latin typeface="Aptos"/>
                    <a:ea typeface="Aptos"/>
                    <a:cs typeface="Aptos"/>
                  </a:rPr>
                  <a:t>Minimum booked nights</a:t>
                </a:r>
              </a:p>
            </c:rich>
          </c:tx>
          <c:overlay val="0"/>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D233A"/>
                </a:solidFill>
                <a:latin typeface="Aptos"/>
                <a:ea typeface="Aptos"/>
                <a:cs typeface="Aptos"/>
              </a:defRPr>
            </a:pPr>
          </a:p>
        </c:txPr>
        <c:crossAx val="48650112"/>
        <c:crossBetween val="between"/>
      </c:valAx>
      <c:spPr>
        <a:solidFill xmlns:a="http://schemas.openxmlformats.org/drawingml/2006/main">
          <a:srgbClr val="F6F8FA"/>
        </a:solidFill>
      </c:spPr>
    </c:plotArea>
    <c:plotVisOnly val="1"/>
  </c:chart>
  <c:spPr>
    <a:solidFill xmlns:a="http://schemas.openxmlformats.org/drawingml/2006/main">
      <a:srgbClr val="F6F8FA"/>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D23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975D419-451F-4515-B142-05E5B89C4602}"/>
              </a:ext>
            </a:extLst>
          </p:cNvPr>
          <p:cNvSpPr>
            <a:spLocks xmlns:a="http://schemas.openxmlformats.org/drawingml/2006/main" noGrp="1"/>
          </p:cNvSpPr>
          <p:nvPr/>
        </p:nvSpPr>
        <p:spPr>
          <a:xfrm xmlns:a="http://schemas.openxmlformats.org/drawingml/2006/main">
            <a:off x="621792" y="329184"/>
            <a:ext cx="54864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1100" b="1">
                <a:solidFill>
                  <a:srgbClr val="FFFFFF"/>
                </a:solidFill>
                <a:latin typeface="Aptos"/>
                <a:ea typeface="Aptos"/>
                <a:cs typeface="Aptos"/>
              </a:defRPr>
            </a:defPPr>
          </a:lstStyle>
          <a:p xmlns:a="http://schemas.openxmlformats.org/drawingml/2006/main">
            <a:pPr>
              <a:defRPr sz="1100" b="1">
                <a:solidFill>
                  <a:srgbClr val="FFFFFF"/>
                </a:solidFill>
                <a:latin typeface="Aptos"/>
                <a:ea typeface="Aptos"/>
                <a:cs typeface="Aptos"/>
              </a:defRPr>
            </a:pPr>
            <a:r>
              <a:rPr sz="1100" b="1">
                <a:solidFill>
                  <a:srgbClr val="FFFFFF"/>
                </a:solidFill>
                <a:latin typeface="Aptos"/>
                <a:ea typeface="Aptos"/>
                <a:cs typeface="Aptos"/>
                <a:hlinkClick xmlns:r="http://schemas.openxmlformats.org/officeDocument/2006/relationships" r:id="R43cfadd6e1834d34"/>
              </a:rPr>
              <a:t>PK / PEDRAM KOJOURI / LINKEDIN</a:t>
            </a:r>
          </a:p>
        </p:txBody>
      </p:sp>
      <p:sp>
        <p:nvSpPr>
          <p:cNvPr id="3" name="Text 1">
            <a:extLst xmlns:a="http://schemas.openxmlformats.org/drawingml/2006/main">
              <a:ext uri="{FF2B5EF4-FFF2-40B4-BE49-F238E27FC236}">
                <a16:creationId xmlns:a16="http://schemas.microsoft.com/office/drawing/2014/main" id="{8836D148-0528-4604-9CB0-52D03C310405}"/>
              </a:ext>
            </a:extLst>
          </p:cNvPr>
          <p:cNvSpPr>
            <a:spLocks xmlns:a="http://schemas.openxmlformats.org/drawingml/2006/main" noGrp="1"/>
          </p:cNvSpPr>
          <p:nvPr/>
        </p:nvSpPr>
        <p:spPr>
          <a:xfrm xmlns:a="http://schemas.openxmlformats.org/drawingml/2006/main">
            <a:off x="5760720" y="329184"/>
            <a:ext cx="277977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900">
                <a:solidFill>
                  <a:srgbClr val="9CCACD"/>
                </a:solidFill>
                <a:latin typeface="Aptos"/>
                <a:ea typeface="Aptos"/>
                <a:cs typeface="Aptos"/>
              </a:defRPr>
            </a:defPPr>
          </a:lstStyle>
          <a:p xmlns:a="http://schemas.openxmlformats.org/drawingml/2006/main">
            <a:pPr marL="0" indent="0" algn="r">
              <a:buNone/>
              <a:defRPr sz="900">
                <a:solidFill>
                  <a:srgbClr val="9CCACD"/>
                </a:solidFill>
                <a:latin typeface="Aptos"/>
                <a:ea typeface="Aptos"/>
                <a:cs typeface="Aptos"/>
              </a:defRPr>
            </a:pPr>
            <a:r>
              <a:rPr sz="900" spc="120">
                <a:solidFill>
                  <a:srgbClr val="9CCACD"/>
                </a:solidFill>
                <a:latin typeface="Aptos"/>
                <a:ea typeface="Aptos"/>
                <a:cs typeface="Aptos"/>
              </a:rPr>
              <a:t>BERGAMO RENTAL STRATEGIES</a:t>
            </a:r>
            <a:endParaRPr sz="900"/>
          </a:p>
        </p:txBody>
      </p:sp>
      <p:sp>
        <p:nvSpPr>
          <p:cNvPr id="4" name="Shape 2">
            <a:extLst xmlns:a="http://schemas.openxmlformats.org/drawingml/2006/main">
              <a:ext uri="{FF2B5EF4-FFF2-40B4-BE49-F238E27FC236}">
                <a16:creationId xmlns:a16="http://schemas.microsoft.com/office/drawing/2014/main" id="{21EA15C8-05DA-4FFB-B2F4-33B0A602283F}"/>
              </a:ext>
            </a:extLst>
          </p:cNvPr>
          <p:cNvSpPr>
            <a:spLocks xmlns:a="http://schemas.openxmlformats.org/drawingml/2006/main" noGrp="1"/>
          </p:cNvSpPr>
          <p:nvPr/>
        </p:nvSpPr>
        <p:spPr>
          <a:xfrm xmlns:a="http://schemas.openxmlformats.org/drawingml/2006/main">
            <a:off x="621792" y="768096"/>
            <a:ext cx="7900416" cy="0"/>
          </a:xfrm>
          <a:prstGeom xmlns:a="http://schemas.openxmlformats.org/drawingml/2006/main" prst="line">
            <a:avLst/>
          </a:prstGeom>
          <a:noFill xmlns:a="http://schemas.openxmlformats.org/drawingml/2006/main"/>
          <a:ln xmlns:a="http://schemas.openxmlformats.org/drawingml/2006/main" w="12700">
            <a:solidFill>
              <a:srgbClr val="527089"/>
            </a:solidFill>
            <a:prstDash val="solid"/>
          </a:ln>
        </p:spPr>
      </p:sp>
      <p:sp>
        <p:nvSpPr>
          <p:cNvPr id="5" name="Shape 3">
            <a:extLst xmlns:a="http://schemas.openxmlformats.org/drawingml/2006/main">
              <a:ext uri="{FF2B5EF4-FFF2-40B4-BE49-F238E27FC236}">
                <a16:creationId xmlns:a16="http://schemas.microsoft.com/office/drawing/2014/main" id="{E71C07EF-434A-4A31-BD6C-D71C25EEE652}"/>
              </a:ext>
            </a:extLst>
          </p:cNvPr>
          <p:cNvSpPr>
            <a:spLocks xmlns:a="http://schemas.openxmlformats.org/drawingml/2006/main" noGrp="1"/>
          </p:cNvSpPr>
          <p:nvPr/>
        </p:nvSpPr>
        <p:spPr>
          <a:xfrm xmlns:a="http://schemas.openxmlformats.org/drawingml/2006/main">
            <a:off x="621792" y="10826496"/>
            <a:ext cx="7900416" cy="0"/>
          </a:xfrm>
          <a:prstGeom xmlns:a="http://schemas.openxmlformats.org/drawingml/2006/main" prst="line">
            <a:avLst/>
          </a:prstGeom>
          <a:noFill xmlns:a="http://schemas.openxmlformats.org/drawingml/2006/main"/>
          <a:ln xmlns:a="http://schemas.openxmlformats.org/drawingml/2006/main" w="12700">
            <a:solidFill>
              <a:srgbClr val="527089"/>
            </a:solidFill>
            <a:prstDash val="solid"/>
          </a:ln>
        </p:spPr>
      </p:sp>
      <p:sp>
        <p:nvSpPr>
          <p:cNvPr id="6" name="Text 4">
            <a:extLst xmlns:a="http://schemas.openxmlformats.org/drawingml/2006/main">
              <a:ext uri="{FF2B5EF4-FFF2-40B4-BE49-F238E27FC236}">
                <a16:creationId xmlns:a16="http://schemas.microsoft.com/office/drawing/2014/main" id="{E3DD706F-B966-4EE7-8679-BE01804226AD}"/>
              </a:ext>
            </a:extLst>
          </p:cNvPr>
          <p:cNvSpPr>
            <a:spLocks xmlns:a="http://schemas.openxmlformats.org/drawingml/2006/main" noGrp="1"/>
          </p:cNvSpPr>
          <p:nvPr/>
        </p:nvSpPr>
        <p:spPr>
          <a:xfrm xmlns:a="http://schemas.openxmlformats.org/drawingml/2006/main">
            <a:off x="621792" y="10981944"/>
            <a:ext cx="694944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800">
                <a:solidFill>
                  <a:srgbClr val="ADCDD2"/>
                </a:solidFill>
                <a:latin typeface="Aptos"/>
                <a:ea typeface="Aptos"/>
                <a:cs typeface="Aptos"/>
              </a:defRPr>
            </a:defPPr>
          </a:lstStyle>
          <a:p xmlns:a="http://schemas.openxmlformats.org/drawingml/2006/main">
            <a:pPr marL="0" indent="0">
              <a:buNone/>
              <a:defRPr sz="800">
                <a:solidFill>
                  <a:srgbClr val="ADCDD2"/>
                </a:solidFill>
                <a:latin typeface="Aptos"/>
                <a:ea typeface="Aptos"/>
                <a:cs typeface="Aptos"/>
              </a:defRPr>
            </a:pPr>
            <a:r>
              <a:rPr sz="800" spc="60">
                <a:solidFill>
                  <a:srgbClr val="ADCDD2"/>
                </a:solidFill>
                <a:latin typeface="Aptos"/>
                <a:ea typeface="Aptos"/>
                <a:cs typeface="Aptos"/>
              </a:rPr>
              <a:t>DATA ANALYTICS  /  ECONOMICS  /  BUSINESS INTELLIGENCE</a:t>
            </a:r>
            <a:endParaRPr sz="800"/>
          </a:p>
        </p:txBody>
      </p:sp>
      <p:sp>
        <p:nvSpPr>
          <p:cNvPr id="7" name="Text 5">
            <a:extLst xmlns:a="http://schemas.openxmlformats.org/drawingml/2006/main">
              <a:ext uri="{FF2B5EF4-FFF2-40B4-BE49-F238E27FC236}">
                <a16:creationId xmlns:a16="http://schemas.microsoft.com/office/drawing/2014/main" id="{7C4B3A5A-D594-4C62-B5E8-8F85362C337E}"/>
              </a:ext>
            </a:extLst>
          </p:cNvPr>
          <p:cNvSpPr>
            <a:spLocks xmlns:a="http://schemas.openxmlformats.org/drawingml/2006/main" noGrp="1"/>
          </p:cNvSpPr>
          <p:nvPr/>
        </p:nvSpPr>
        <p:spPr>
          <a:xfrm xmlns:a="http://schemas.openxmlformats.org/drawingml/2006/main">
            <a:off x="7955280" y="10963656"/>
            <a:ext cx="5486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1100" b="1">
                <a:solidFill>
                  <a:srgbClr val="FFFFFF"/>
                </a:solidFill>
                <a:latin typeface="Aptos"/>
                <a:ea typeface="Aptos"/>
                <a:cs typeface="Aptos"/>
              </a:defRPr>
            </a:defPPr>
          </a:lstStyle>
          <a:p xmlns:a="http://schemas.openxmlformats.org/drawingml/2006/main">
            <a:pPr marL="0" indent="0" algn="r">
              <a:buNone/>
              <a:defRPr sz="1100" b="1">
                <a:solidFill>
                  <a:srgbClr val="FFFFFF"/>
                </a:solidFill>
                <a:latin typeface="Aptos"/>
                <a:ea typeface="Aptos"/>
                <a:cs typeface="Aptos"/>
              </a:defRPr>
            </a:pPr>
            <a:r>
              <a:rPr sz="1100" b="1">
                <a:solidFill>
                  <a:srgbClr val="FFFFFF"/>
                </a:solidFill>
                <a:latin typeface="Aptos"/>
                <a:ea typeface="Aptos"/>
                <a:cs typeface="Aptos"/>
              </a:rPr>
              <a:t>01</a:t>
            </a:r>
            <a:endParaRPr sz="1100"/>
          </a:p>
        </p:txBody>
      </p:sp>
      <p:sp>
        <p:nvSpPr>
          <p:cNvPr id="8" name="">
            <a:extLst xmlns:a="http://schemas.openxmlformats.org/drawingml/2006/main">
              <a:ext uri="{FF2B5EF4-FFF2-40B4-BE49-F238E27FC236}">
                <a16:creationId xmlns:a16="http://schemas.microsoft.com/office/drawing/2014/main" id="{322939AA-A04D-4B85-B8A8-EE0F77238D96}"/>
              </a:ext>
            </a:extLst>
          </p:cNvPr>
          <p:cNvSpPr>
            <a:spLocks xmlns:a="http://schemas.openxmlformats.org/drawingml/2006/main" noGrp="1"/>
          </p:cNvSpPr>
          <p:nvPr/>
        </p:nvSpPr>
        <p:spPr>
          <a:xfrm xmlns:a="http://schemas.openxmlformats.org/drawingml/2006/main">
            <a:off x="638175" y="1714500"/>
            <a:ext cx="790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FFFFFF"/>
                </a:solidFill>
                <a:latin typeface="Aptos"/>
                <a:ea typeface="Aptos"/>
                <a:cs typeface="Aptos"/>
              </a:defRPr>
            </a:defPPr>
          </a:lstStyle>
          <a:p xmlns:a="http://schemas.openxmlformats.org/drawingml/2006/main">
            <a:pPr>
              <a:defRPr sz="4200" b="1">
                <a:solidFill>
                  <a:srgbClr val="FFFFFF"/>
                </a:solidFill>
                <a:latin typeface="Aptos"/>
                <a:ea typeface="Aptos"/>
                <a:cs typeface="Aptos"/>
              </a:defRPr>
            </a:pPr>
            <a:r>
              <a:rPr sz="4200" b="1">
                <a:solidFill>
                  <a:srgbClr val="FFFFFF"/>
                </a:solidFill>
                <a:latin typeface="Aptos"/>
                <a:ea typeface="Aptos"/>
                <a:cs typeface="Aptos"/>
              </a:rPr>
              <a:t>More Tourists,</a:t>
            </a:r>
          </a:p>
          <a:p xmlns:a="http://schemas.openxmlformats.org/drawingml/2006/main">
            <a:pPr>
              <a:defRPr sz="4200" b="1">
                <a:solidFill>
                  <a:srgbClr val="FFFFFF"/>
                </a:solidFill>
                <a:latin typeface="Aptos"/>
                <a:ea typeface="Aptos"/>
                <a:cs typeface="Aptos"/>
              </a:defRPr>
            </a:pPr>
            <a:r>
              <a:rPr sz="4200" b="1">
                <a:solidFill>
                  <a:srgbClr val="FFFFFF"/>
                </a:solidFill>
                <a:latin typeface="Aptos"/>
                <a:ea typeface="Aptos"/>
                <a:cs typeface="Aptos"/>
              </a:rPr>
              <a:t>More Profit?</a:t>
            </a:r>
          </a:p>
        </p:txBody>
      </p:sp>
      <p:sp>
        <p:nvSpPr>
          <p:cNvPr id="9" name="">
            <a:extLst xmlns:a="http://schemas.openxmlformats.org/drawingml/2006/main">
              <a:ext uri="{FF2B5EF4-FFF2-40B4-BE49-F238E27FC236}">
                <a16:creationId xmlns:a16="http://schemas.microsoft.com/office/drawing/2014/main" id="{2B2082C2-4DF2-49D8-913E-8611F61BE12D}"/>
              </a:ext>
            </a:extLst>
          </p:cNvPr>
          <p:cNvSpPr>
            <a:spLocks xmlns:a="http://schemas.openxmlformats.org/drawingml/2006/main" noGrp="1"/>
          </p:cNvSpPr>
          <p:nvPr/>
        </p:nvSpPr>
        <p:spPr>
          <a:xfrm xmlns:a="http://schemas.openxmlformats.org/drawingml/2006/main">
            <a:off x="666750" y="3619500"/>
            <a:ext cx="7762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ADCDD2"/>
                </a:solidFill>
                <a:latin typeface="Aptos"/>
                <a:ea typeface="Aptos"/>
                <a:cs typeface="Aptos"/>
              </a:defRPr>
            </a:defPPr>
          </a:lstStyle>
          <a:p xmlns:a="http://schemas.openxmlformats.org/drawingml/2006/main">
            <a:pPr>
              <a:defRPr sz="2175" b="0">
                <a:solidFill>
                  <a:srgbClr val="ADCDD2"/>
                </a:solidFill>
                <a:latin typeface="Aptos"/>
                <a:ea typeface="Aptos"/>
                <a:cs typeface="Aptos"/>
              </a:defRPr>
            </a:pPr>
            <a:r>
              <a:rPr sz="2175" b="0">
                <a:solidFill>
                  <a:srgbClr val="ADCDD2"/>
                </a:solidFill>
                <a:latin typeface="Aptos"/>
                <a:ea typeface="Aptos"/>
                <a:cs typeface="Aptos"/>
              </a:rPr>
              <a:t>A Data-Driven Business Case Study on Rental Profitability in Bergamo</a:t>
            </a:r>
          </a:p>
        </p:txBody>
      </p:sp>
      <p:sp>
        <p:nvSpPr>
          <p:cNvPr id="10" name="">
            <a:extLst xmlns:a="http://schemas.openxmlformats.org/drawingml/2006/main">
              <a:ext uri="{FF2B5EF4-FFF2-40B4-BE49-F238E27FC236}">
                <a16:creationId xmlns:a16="http://schemas.microsoft.com/office/drawing/2014/main" id="{39012E98-62B8-49D3-9745-71983B66ACAE}"/>
              </a:ext>
            </a:extLst>
          </p:cNvPr>
          <p:cNvSpPr>
            <a:spLocks xmlns:a="http://schemas.openxmlformats.org/drawingml/2006/main" noGrp="1"/>
          </p:cNvSpPr>
          <p:nvPr/>
        </p:nvSpPr>
        <p:spPr>
          <a:xfrm xmlns:a="http://schemas.openxmlformats.org/drawingml/2006/main">
            <a:off x="666750" y="5810250"/>
            <a:ext cx="7762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9CCACD"/>
                </a:solidFill>
                <a:latin typeface="Aptos"/>
                <a:ea typeface="Aptos"/>
                <a:cs typeface="Aptos"/>
              </a:defRPr>
            </a:defPPr>
          </a:lstStyle>
          <a:p xmlns:a="http://schemas.openxmlformats.org/drawingml/2006/main">
            <a:pPr>
              <a:defRPr sz="1725" b="1">
                <a:solidFill>
                  <a:srgbClr val="9CCACD"/>
                </a:solidFill>
                <a:latin typeface="Aptos"/>
                <a:ea typeface="Aptos"/>
                <a:cs typeface="Aptos"/>
              </a:defRPr>
            </a:pPr>
            <a:r>
              <a:rPr sz="1725" b="1">
                <a:solidFill>
                  <a:srgbClr val="9CCACD"/>
                </a:solidFill>
                <a:latin typeface="Aptos"/>
                <a:ea typeface="Aptos"/>
                <a:cs typeface="Aptos"/>
              </a:rPr>
              <a:t>DATA ANALYTICS CASE STUDY</a:t>
            </a:r>
          </a:p>
        </p:txBody>
      </p:sp>
      <p:sp>
        <p:nvSpPr>
          <p:cNvPr id="11" name="">
            <a:extLst xmlns:a="http://schemas.openxmlformats.org/drawingml/2006/main">
              <a:ext uri="{FF2B5EF4-FFF2-40B4-BE49-F238E27FC236}">
                <a16:creationId xmlns:a16="http://schemas.microsoft.com/office/drawing/2014/main" id="{3DCF822D-DA8C-49C9-9619-BE67A233D0EF}"/>
              </a:ext>
            </a:extLst>
          </p:cNvPr>
          <p:cNvSpPr>
            <a:spLocks xmlns:a="http://schemas.openxmlformats.org/drawingml/2006/main" noGrp="1"/>
          </p:cNvSpPr>
          <p:nvPr/>
        </p:nvSpPr>
        <p:spPr>
          <a:xfrm xmlns:a="http://schemas.openxmlformats.org/drawingml/2006/main">
            <a:off x="666750" y="6762750"/>
            <a:ext cx="776287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0">
                <a:solidFill>
                  <a:srgbClr val="FFFFFF"/>
                </a:solidFill>
                <a:latin typeface="Aptos"/>
                <a:ea typeface="Aptos"/>
                <a:cs typeface="Aptos"/>
              </a:defRPr>
            </a:defPPr>
          </a:lstStyle>
          <a:p xmlns:a="http://schemas.openxmlformats.org/drawingml/2006/main">
            <a:pPr>
              <a:defRPr sz="2700" b="0">
                <a:solidFill>
                  <a:srgbClr val="FFFFFF"/>
                </a:solidFill>
                <a:latin typeface="Aptos"/>
                <a:ea typeface="Aptos"/>
                <a:cs typeface="Aptos"/>
              </a:defRPr>
            </a:pPr>
            <a:r>
              <a:rPr sz="2700" b="0">
                <a:solidFill>
                  <a:srgbClr val="FFFFFF"/>
                </a:solidFill>
                <a:latin typeface="Aptos"/>
                <a:ea typeface="Aptos"/>
                <a:cs typeface="Aptos"/>
              </a:rPr>
              <a:t>Tourism demand</a:t>
            </a:r>
          </a:p>
          <a:p xmlns:a="http://schemas.openxmlformats.org/drawingml/2006/main">
            <a:pPr>
              <a:defRPr sz="2700" b="0">
                <a:solidFill>
                  <a:srgbClr val="FFFFFF"/>
                </a:solidFill>
                <a:latin typeface="Aptos"/>
                <a:ea typeface="Aptos"/>
                <a:cs typeface="Aptos"/>
              </a:defRPr>
            </a:pPr>
            <a:r>
              <a:rPr sz="2700" b="0">
                <a:solidFill>
                  <a:srgbClr val="FFFFFF"/>
                </a:solidFill>
                <a:latin typeface="Aptos"/>
                <a:ea typeface="Aptos"/>
                <a:cs typeface="Aptos"/>
              </a:rPr>
              <a:t>Owner cash income</a:t>
            </a:r>
          </a:p>
          <a:p xmlns:a="http://schemas.openxmlformats.org/drawingml/2006/main">
            <a:pPr>
              <a:defRPr sz="2700" b="0">
                <a:solidFill>
                  <a:srgbClr val="FFFFFF"/>
                </a:solidFill>
                <a:latin typeface="Aptos"/>
                <a:ea typeface="Aptos"/>
                <a:cs typeface="Aptos"/>
              </a:defRPr>
            </a:pPr>
            <a:r>
              <a:rPr sz="2700" b="0">
                <a:solidFill>
                  <a:srgbClr val="FFFFFF"/>
                </a:solidFill>
                <a:latin typeface="Aptos"/>
                <a:ea typeface="Aptos"/>
                <a:cs typeface="Aptos"/>
              </a:rPr>
              <a:t>The cost of conversion</a:t>
            </a:r>
          </a:p>
        </p:txBody>
      </p:sp>
      <p:sp>
        <p:nvSpPr>
          <p:cNvPr id="12" name="">
            <a:extLst xmlns:a="http://schemas.openxmlformats.org/drawingml/2006/main">
              <a:ext uri="{FF2B5EF4-FFF2-40B4-BE49-F238E27FC236}">
                <a16:creationId xmlns:a16="http://schemas.microsoft.com/office/drawing/2014/main" id="{566DCECB-059D-4F69-B1AE-F9902A607B8A}"/>
              </a:ext>
            </a:extLst>
          </p:cNvPr>
          <p:cNvSpPr>
            <a:spLocks xmlns:a="http://schemas.openxmlformats.org/drawingml/2006/main" noGrp="1"/>
          </p:cNvSpPr>
          <p:nvPr/>
        </p:nvSpPr>
        <p:spPr>
          <a:xfrm xmlns:a="http://schemas.openxmlformats.org/drawingml/2006/main">
            <a:off x="666750" y="9525000"/>
            <a:ext cx="7762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ADCDD2"/>
                </a:solidFill>
                <a:latin typeface="Aptos"/>
                <a:ea typeface="Aptos"/>
                <a:cs typeface="Aptos"/>
              </a:defRPr>
            </a:defPPr>
          </a:lstStyle>
          <a:p xmlns:a="http://schemas.openxmlformats.org/drawingml/2006/main">
            <a:pPr>
              <a:defRPr sz="1950" b="0">
                <a:solidFill>
                  <a:srgbClr val="ADCDD2"/>
                </a:solidFill>
                <a:latin typeface="Aptos"/>
                <a:ea typeface="Aptos"/>
                <a:cs typeface="Aptos"/>
              </a:defRPr>
            </a:pPr>
            <a:r>
              <a:rPr sz="1950" b="0">
                <a:solidFill>
                  <a:srgbClr val="ADCDD2"/>
                </a:solidFill>
                <a:latin typeface="Aptos"/>
                <a:ea typeface="Aptos"/>
                <a:cs typeface="Aptos"/>
              </a:rPr>
              <a:t>Pedram Kojouri</a:t>
            </a:r>
          </a:p>
          <a:p xmlns:a="http://schemas.openxmlformats.org/drawingml/2006/main">
            <a:pPr>
              <a:defRPr sz="1950" b="0">
                <a:solidFill>
                  <a:srgbClr val="ADCDD2"/>
                </a:solidFill>
                <a:latin typeface="Aptos"/>
                <a:ea typeface="Aptos"/>
                <a:cs typeface="Aptos"/>
              </a:defRPr>
            </a:pPr>
            <a:r>
              <a:rPr sz="1950" b="0">
                <a:solidFill>
                  <a:srgbClr val="ADCDD2"/>
                </a:solidFill>
                <a:latin typeface="Aptos"/>
                <a:ea typeface="Aptos"/>
                <a:cs typeface="Aptos"/>
              </a:rPr>
              <a:t>October 2026</a:t>
            </a:r>
          </a:p>
        </p:txBody>
      </p:sp>
    </p:spTree>
    <p:extLst>
      <p:ext uri="{BB962C8B-B14F-4D97-AF65-F5344CB8AC3E}">
        <p14:creationId xmlns:p14="http://schemas.microsoft.com/office/powerpoint/2010/main" val="1893850382"/>
      </p:ext>
    </p:extLst>
  </p:cSld>
</p:sld>
</file>

<file path=ppt/slides/slide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4546816-40EB-4344-B204-4023DFB1DA78}"/>
              </a:ext>
            </a:extLst>
          </p:cNvPr>
          <p:cNvSpPr>
            <a:spLocks xmlns:a="http://schemas.openxmlformats.org/drawingml/2006/main" noGrp="1"/>
          </p:cNvSpPr>
          <p:nvPr/>
        </p:nvSpPr>
        <p:spPr>
          <a:xfrm xmlns:a="http://schemas.openxmlformats.org/drawingml/2006/main">
            <a:off x="621792" y="329184"/>
            <a:ext cx="54864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1100" b="1">
                <a:solidFill>
                  <a:srgbClr val="0D233A"/>
                </a:solidFill>
                <a:latin typeface="Aptos"/>
                <a:ea typeface="Aptos"/>
                <a:cs typeface="Aptos"/>
              </a:defRPr>
            </a:defPPr>
          </a:lstStyle>
          <a:p xmlns:a="http://schemas.openxmlformats.org/drawingml/2006/main">
            <a:pPr>
              <a:defRPr sz="1100" b="1">
                <a:solidFill>
                  <a:srgbClr val="0D233A"/>
                </a:solidFill>
                <a:latin typeface="Aptos"/>
                <a:ea typeface="Aptos"/>
                <a:cs typeface="Aptos"/>
              </a:defRPr>
            </a:pPr>
            <a:r>
              <a:rPr sz="1100" b="1">
                <a:solidFill>
                  <a:srgbClr val="0D233A"/>
                </a:solidFill>
                <a:latin typeface="Aptos"/>
                <a:ea typeface="Aptos"/>
                <a:cs typeface="Aptos"/>
                <a:hlinkClick xmlns:r="http://schemas.openxmlformats.org/officeDocument/2006/relationships" r:id="R8f8c5dcbefd44d35"/>
              </a:rPr>
              <a:t>PK / PEDRAM KOJOURI / LINKEDIN</a:t>
            </a:r>
          </a:p>
        </p:txBody>
      </p:sp>
      <p:sp>
        <p:nvSpPr>
          <p:cNvPr id="3" name="Text 1">
            <a:extLst xmlns:a="http://schemas.openxmlformats.org/drawingml/2006/main">
              <a:ext uri="{FF2B5EF4-FFF2-40B4-BE49-F238E27FC236}">
                <a16:creationId xmlns:a16="http://schemas.microsoft.com/office/drawing/2014/main" id="{4E674404-B666-4010-8BFA-0306B384350B}"/>
              </a:ext>
            </a:extLst>
          </p:cNvPr>
          <p:cNvSpPr>
            <a:spLocks xmlns:a="http://schemas.openxmlformats.org/drawingml/2006/main" noGrp="1"/>
          </p:cNvSpPr>
          <p:nvPr/>
        </p:nvSpPr>
        <p:spPr>
          <a:xfrm xmlns:a="http://schemas.openxmlformats.org/drawingml/2006/main">
            <a:off x="5760720" y="329184"/>
            <a:ext cx="277977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900">
                <a:solidFill>
                  <a:srgbClr val="64798B"/>
                </a:solidFill>
                <a:latin typeface="Aptos"/>
                <a:ea typeface="Aptos"/>
                <a:cs typeface="Aptos"/>
              </a:defRPr>
            </a:defPPr>
          </a:lstStyle>
          <a:p xmlns:a="http://schemas.openxmlformats.org/drawingml/2006/main">
            <a:pPr marL="0" indent="0" algn="r">
              <a:buNone/>
              <a:defRPr sz="900">
                <a:solidFill>
                  <a:srgbClr val="64798B"/>
                </a:solidFill>
                <a:latin typeface="Aptos"/>
                <a:ea typeface="Aptos"/>
                <a:cs typeface="Aptos"/>
              </a:defRPr>
            </a:pPr>
            <a:r>
              <a:rPr sz="900" spc="120">
                <a:solidFill>
                  <a:srgbClr val="64798B"/>
                </a:solidFill>
                <a:latin typeface="Aptos"/>
                <a:ea typeface="Aptos"/>
                <a:cs typeface="Aptos"/>
              </a:rPr>
              <a:t>THE BUSINESS QUESTION</a:t>
            </a:r>
            <a:endParaRPr sz="900"/>
          </a:p>
        </p:txBody>
      </p:sp>
      <p:sp>
        <p:nvSpPr>
          <p:cNvPr id="4" name="Shape 2">
            <a:extLst xmlns:a="http://schemas.openxmlformats.org/drawingml/2006/main">
              <a:ext uri="{FF2B5EF4-FFF2-40B4-BE49-F238E27FC236}">
                <a16:creationId xmlns:a16="http://schemas.microsoft.com/office/drawing/2014/main" id="{77C26B2D-D200-422C-9B7F-6B62FCF0B02F}"/>
              </a:ext>
            </a:extLst>
          </p:cNvPr>
          <p:cNvSpPr>
            <a:spLocks xmlns:a="http://schemas.openxmlformats.org/drawingml/2006/main" noGrp="1"/>
          </p:cNvSpPr>
          <p:nvPr/>
        </p:nvSpPr>
        <p:spPr>
          <a:xfrm xmlns:a="http://schemas.openxmlformats.org/drawingml/2006/main">
            <a:off x="621792" y="7680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5" name="Shape 3">
            <a:extLst xmlns:a="http://schemas.openxmlformats.org/drawingml/2006/main">
              <a:ext uri="{FF2B5EF4-FFF2-40B4-BE49-F238E27FC236}">
                <a16:creationId xmlns:a16="http://schemas.microsoft.com/office/drawing/2014/main" id="{93061826-2F65-432A-B5B2-46D21FB4EAE1}"/>
              </a:ext>
            </a:extLst>
          </p:cNvPr>
          <p:cNvSpPr>
            <a:spLocks xmlns:a="http://schemas.openxmlformats.org/drawingml/2006/main" noGrp="1"/>
          </p:cNvSpPr>
          <p:nvPr/>
        </p:nvSpPr>
        <p:spPr>
          <a:xfrm xmlns:a="http://schemas.openxmlformats.org/drawingml/2006/main">
            <a:off x="621792" y="108264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6" name="Text 4">
            <a:extLst xmlns:a="http://schemas.openxmlformats.org/drawingml/2006/main">
              <a:ext uri="{FF2B5EF4-FFF2-40B4-BE49-F238E27FC236}">
                <a16:creationId xmlns:a16="http://schemas.microsoft.com/office/drawing/2014/main" id="{E51E8170-4336-494C-A038-493816589BC9}"/>
              </a:ext>
            </a:extLst>
          </p:cNvPr>
          <p:cNvSpPr>
            <a:spLocks xmlns:a="http://schemas.openxmlformats.org/drawingml/2006/main" noGrp="1"/>
          </p:cNvSpPr>
          <p:nvPr/>
        </p:nvSpPr>
        <p:spPr>
          <a:xfrm xmlns:a="http://schemas.openxmlformats.org/drawingml/2006/main">
            <a:off x="621792" y="10981944"/>
            <a:ext cx="694944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800">
                <a:solidFill>
                  <a:srgbClr val="64798B"/>
                </a:solidFill>
                <a:latin typeface="Aptos"/>
                <a:ea typeface="Aptos"/>
                <a:cs typeface="Aptos"/>
              </a:defRPr>
            </a:defPPr>
          </a:lstStyle>
          <a:p xmlns:a="http://schemas.openxmlformats.org/drawingml/2006/main">
            <a:pPr marL="0" indent="0">
              <a:buNone/>
              <a:defRPr sz="800">
                <a:solidFill>
                  <a:srgbClr val="64798B"/>
                </a:solidFill>
                <a:latin typeface="Aptos"/>
                <a:ea typeface="Aptos"/>
                <a:cs typeface="Aptos"/>
              </a:defRPr>
            </a:pPr>
            <a:r>
              <a:rPr sz="800" spc="60">
                <a:solidFill>
                  <a:srgbClr val="64798B"/>
                </a:solidFill>
                <a:latin typeface="Aptos"/>
                <a:ea typeface="Aptos"/>
                <a:cs typeface="Aptos"/>
              </a:rPr>
              <a:t>DATA ANALYTICS  /  ECONOMICS  /  BUSINESS INTELLIGENCE</a:t>
            </a:r>
            <a:endParaRPr sz="800"/>
          </a:p>
        </p:txBody>
      </p:sp>
      <p:sp>
        <p:nvSpPr>
          <p:cNvPr id="7" name="Text 5">
            <a:extLst xmlns:a="http://schemas.openxmlformats.org/drawingml/2006/main">
              <a:ext uri="{FF2B5EF4-FFF2-40B4-BE49-F238E27FC236}">
                <a16:creationId xmlns:a16="http://schemas.microsoft.com/office/drawing/2014/main" id="{798BFD0C-A1CF-4891-A5B0-789948C9AF9F}"/>
              </a:ext>
            </a:extLst>
          </p:cNvPr>
          <p:cNvSpPr>
            <a:spLocks xmlns:a="http://schemas.openxmlformats.org/drawingml/2006/main" noGrp="1"/>
          </p:cNvSpPr>
          <p:nvPr/>
        </p:nvSpPr>
        <p:spPr>
          <a:xfrm xmlns:a="http://schemas.openxmlformats.org/drawingml/2006/main">
            <a:off x="7955280" y="10963656"/>
            <a:ext cx="5486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1100" b="1">
                <a:solidFill>
                  <a:srgbClr val="0D233A"/>
                </a:solidFill>
                <a:latin typeface="Aptos"/>
                <a:ea typeface="Aptos"/>
                <a:cs typeface="Aptos"/>
              </a:defRPr>
            </a:defPPr>
          </a:lstStyle>
          <a:p xmlns:a="http://schemas.openxmlformats.org/drawingml/2006/main">
            <a:pPr marL="0" indent="0" algn="r">
              <a:buNone/>
              <a:defRPr sz="1100" b="1">
                <a:solidFill>
                  <a:srgbClr val="0D233A"/>
                </a:solidFill>
                <a:latin typeface="Aptos"/>
                <a:ea typeface="Aptos"/>
                <a:cs typeface="Aptos"/>
              </a:defRPr>
            </a:pPr>
            <a:r>
              <a:rPr sz="1100" b="1">
                <a:solidFill>
                  <a:srgbClr val="0D233A"/>
                </a:solidFill>
                <a:latin typeface="Aptos"/>
                <a:ea typeface="Aptos"/>
                <a:cs typeface="Aptos"/>
              </a:rPr>
              <a:t>02</a:t>
            </a:r>
            <a:endParaRPr sz="1100"/>
          </a:p>
        </p:txBody>
      </p:sp>
      <p:sp>
        <p:nvSpPr>
          <p:cNvPr id="8" name="">
            <a:extLst xmlns:a="http://schemas.openxmlformats.org/drawingml/2006/main">
              <a:ext uri="{FF2B5EF4-FFF2-40B4-BE49-F238E27FC236}">
                <a16:creationId xmlns:a16="http://schemas.microsoft.com/office/drawing/2014/main" id="{4F0BC314-0EDE-4758-A34B-5DABB5A27B67}"/>
              </a:ext>
            </a:extLst>
          </p:cNvPr>
          <p:cNvSpPr>
            <a:spLocks xmlns:a="http://schemas.openxmlformats.org/drawingml/2006/main" noGrp="1"/>
          </p:cNvSpPr>
          <p:nvPr/>
        </p:nvSpPr>
        <p:spPr>
          <a:xfrm xmlns:a="http://schemas.openxmlformats.org/drawingml/2006/main">
            <a:off x="638175" y="1714500"/>
            <a:ext cx="790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0D233A"/>
                </a:solidFill>
                <a:latin typeface="Aptos"/>
                <a:ea typeface="Aptos"/>
                <a:cs typeface="Aptos"/>
              </a:defRPr>
            </a:defPPr>
          </a:lstStyle>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Tourism is growing.</a:t>
            </a:r>
          </a:p>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What does an owner keep?</a:t>
            </a:r>
          </a:p>
        </p:txBody>
      </p:sp>
      <p:sp>
        <p:nvSpPr>
          <p:cNvPr id="9" name="">
            <a:extLst xmlns:a="http://schemas.openxmlformats.org/drawingml/2006/main">
              <a:ext uri="{FF2B5EF4-FFF2-40B4-BE49-F238E27FC236}">
                <a16:creationId xmlns:a16="http://schemas.microsoft.com/office/drawing/2014/main" id="{56D28A02-086C-4613-B733-818F326B1C53}"/>
              </a:ext>
            </a:extLst>
          </p:cNvPr>
          <p:cNvSpPr>
            <a:spLocks xmlns:a="http://schemas.openxmlformats.org/drawingml/2006/main" noGrp="1"/>
          </p:cNvSpPr>
          <p:nvPr/>
        </p:nvSpPr>
        <p:spPr>
          <a:xfrm xmlns:a="http://schemas.openxmlformats.org/drawingml/2006/main">
            <a:off x="666750" y="3619500"/>
            <a:ext cx="7762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C4C74"/>
                </a:solidFill>
                <a:latin typeface="Aptos"/>
                <a:ea typeface="Aptos"/>
                <a:cs typeface="Aptos"/>
              </a:defRPr>
            </a:defPPr>
          </a:lstStyle>
          <a:p xmlns:a="http://schemas.openxmlformats.org/drawingml/2006/main">
            <a:pPr>
              <a:defRPr sz="2175" b="0">
                <a:solidFill>
                  <a:srgbClr val="1C4C74"/>
                </a:solidFill>
                <a:latin typeface="Aptos"/>
                <a:ea typeface="Aptos"/>
                <a:cs typeface="Aptos"/>
              </a:defRPr>
            </a:pPr>
            <a:r>
              <a:rPr sz="2175" b="0">
                <a:solidFill>
                  <a:srgbClr val="1C4C74"/>
                </a:solidFill>
                <a:latin typeface="Aptos"/>
                <a:ea typeface="Aptos"/>
                <a:cs typeface="Aptos"/>
              </a:rPr>
              <a:t>City guest nights increased by 52.7% between 2019 and 2024.</a:t>
            </a:r>
          </a:p>
        </p:txBody>
      </p:sp>
      <p:graphicFrame>
        <p:nvGraphicFramePr>
          <p:cNvPr id="10" name="Chart">
            <a:extLst xmlns:a="http://schemas.openxmlformats.org/drawingml/2006/main">
              <a:ext uri="{FF2B5EF4-FFF2-40B4-BE49-F238E27FC236}">
                <a16:creationId xmlns:a16="http://schemas.microsoft.com/office/drawing/2014/main" id="{655B8BD7-795D-4171-AB53-3E2BE464CC79}"/>
              </a:ext>
            </a:extLst>
          </p:cNvPr>
          <p:cNvGraphicFramePr/>
          <p:nvPr/>
        </p:nvGraphicFramePr>
        <p:xfrm>
          <a:off xmlns:a="http://schemas.openxmlformats.org/drawingml/2006/main" x="666750" y="4857750"/>
          <a:ext xmlns:a="http://schemas.openxmlformats.org/drawingml/2006/main" cx="7715250" cy="4191000"/>
        </p:xfrm>
        <a:graphic xmlns:a="http://schemas.openxmlformats.org/drawingml/2006/main">
          <a:graphicData uri="http://schemas.openxmlformats.org/drawingml/2006/chart">
            <c:chart xmlns:r="http://schemas.openxmlformats.org/officeDocument/2006/relationships" xmlns:c="http://schemas.openxmlformats.org/drawingml/2006/chart" r:id="Rdf1b3d50699c4ece"/>
          </a:graphicData>
        </a:graphic>
      </p:graphicFrame>
      <p:sp>
        <p:nvSpPr>
          <p:cNvPr id="11" name="">
            <a:extLst xmlns:a="http://schemas.openxmlformats.org/drawingml/2006/main">
              <a:ext uri="{FF2B5EF4-FFF2-40B4-BE49-F238E27FC236}">
                <a16:creationId xmlns:a16="http://schemas.microsoft.com/office/drawing/2014/main" id="{20FD3B4B-DA72-4C2A-B22F-E2EEA2FB156C}"/>
              </a:ext>
            </a:extLst>
          </p:cNvPr>
          <p:cNvSpPr>
            <a:spLocks xmlns:a="http://schemas.openxmlformats.org/drawingml/2006/main" noGrp="1"/>
          </p:cNvSpPr>
          <p:nvPr/>
        </p:nvSpPr>
        <p:spPr>
          <a:xfrm xmlns:a="http://schemas.openxmlformats.org/drawingml/2006/main">
            <a:off x="666750" y="10001250"/>
            <a:ext cx="776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64798B"/>
                </a:solidFill>
                <a:latin typeface="Aptos"/>
                <a:ea typeface="Aptos"/>
                <a:cs typeface="Aptos"/>
              </a:defRPr>
            </a:defPPr>
          </a:lstStyle>
          <a:p xmlns:a="http://schemas.openxmlformats.org/drawingml/2006/main">
            <a:pPr>
              <a:defRPr sz="1425" b="0">
                <a:solidFill>
                  <a:srgbClr val="64798B"/>
                </a:solidFill>
                <a:latin typeface="Aptos"/>
                <a:ea typeface="Aptos"/>
                <a:cs typeface="Aptos"/>
              </a:defRPr>
            </a:pPr>
            <a:r>
              <a:rPr sz="1425" b="0">
                <a:solidFill>
                  <a:srgbClr val="64798B"/>
                </a:solidFill>
                <a:latin typeface="Aptos"/>
                <a:ea typeface="Aptos"/>
                <a:cs typeface="Aptos"/>
              </a:rPr>
              <a:t>Source: Regione Lombardia, city aggregate tourism data. Market growth alone does not establish a rental profit advantage.</a:t>
            </a:r>
          </a:p>
        </p:txBody>
      </p:sp>
    </p:spTree>
    <p:extLst>
      <p:ext uri="{BB962C8B-B14F-4D97-AF65-F5344CB8AC3E}">
        <p14:creationId xmlns:p14="http://schemas.microsoft.com/office/powerpoint/2010/main" val="267926451"/>
      </p:ext>
    </p:extLst>
  </p:cSld>
</p:sld>
</file>

<file path=ppt/slides/slide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4546816-40EB-4344-B204-4023DFB1DA78}"/>
              </a:ext>
            </a:extLst>
          </p:cNvPr>
          <p:cNvSpPr>
            <a:spLocks xmlns:a="http://schemas.openxmlformats.org/drawingml/2006/main" noGrp="1"/>
          </p:cNvSpPr>
          <p:nvPr/>
        </p:nvSpPr>
        <p:spPr>
          <a:xfrm xmlns:a="http://schemas.openxmlformats.org/drawingml/2006/main">
            <a:off x="621792" y="329184"/>
            <a:ext cx="54864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1100" b="1">
                <a:solidFill>
                  <a:srgbClr val="0D233A"/>
                </a:solidFill>
                <a:latin typeface="Aptos"/>
                <a:ea typeface="Aptos"/>
                <a:cs typeface="Aptos"/>
              </a:defRPr>
            </a:defPPr>
          </a:lstStyle>
          <a:p xmlns:a="http://schemas.openxmlformats.org/drawingml/2006/main">
            <a:pPr>
              <a:defRPr sz="1100" b="1">
                <a:solidFill>
                  <a:srgbClr val="0D233A"/>
                </a:solidFill>
                <a:latin typeface="Aptos"/>
                <a:ea typeface="Aptos"/>
                <a:cs typeface="Aptos"/>
              </a:defRPr>
            </a:pPr>
            <a:r>
              <a:rPr sz="1100" b="1">
                <a:solidFill>
                  <a:srgbClr val="0D233A"/>
                </a:solidFill>
                <a:latin typeface="Aptos"/>
                <a:ea typeface="Aptos"/>
                <a:cs typeface="Aptos"/>
                <a:hlinkClick xmlns:r="http://schemas.openxmlformats.org/officeDocument/2006/relationships" r:id="R500ad9f1cdf742c9"/>
              </a:rPr>
              <a:t>PK / PEDRAM KOJOURI / LINKEDIN</a:t>
            </a:r>
          </a:p>
        </p:txBody>
      </p:sp>
      <p:sp>
        <p:nvSpPr>
          <p:cNvPr id="3" name="Text 1">
            <a:extLst xmlns:a="http://schemas.openxmlformats.org/drawingml/2006/main">
              <a:ext uri="{FF2B5EF4-FFF2-40B4-BE49-F238E27FC236}">
                <a16:creationId xmlns:a16="http://schemas.microsoft.com/office/drawing/2014/main" id="{4E674404-B666-4010-8BFA-0306B384350B}"/>
              </a:ext>
            </a:extLst>
          </p:cNvPr>
          <p:cNvSpPr>
            <a:spLocks xmlns:a="http://schemas.openxmlformats.org/drawingml/2006/main" noGrp="1"/>
          </p:cNvSpPr>
          <p:nvPr/>
        </p:nvSpPr>
        <p:spPr>
          <a:xfrm xmlns:a="http://schemas.openxmlformats.org/drawingml/2006/main">
            <a:off x="5760720" y="329184"/>
            <a:ext cx="277977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900">
                <a:solidFill>
                  <a:srgbClr val="64798B"/>
                </a:solidFill>
                <a:latin typeface="Aptos"/>
                <a:ea typeface="Aptos"/>
                <a:cs typeface="Aptos"/>
              </a:defRPr>
            </a:defPPr>
          </a:lstStyle>
          <a:p xmlns:a="http://schemas.openxmlformats.org/drawingml/2006/main">
            <a:pPr marL="0" indent="0" algn="r">
              <a:buNone/>
              <a:defRPr sz="900">
                <a:solidFill>
                  <a:srgbClr val="64798B"/>
                </a:solidFill>
                <a:latin typeface="Aptos"/>
                <a:ea typeface="Aptos"/>
                <a:cs typeface="Aptos"/>
              </a:defRPr>
            </a:pPr>
            <a:r>
              <a:rPr sz="900" spc="120">
                <a:solidFill>
                  <a:srgbClr val="64798B"/>
                </a:solidFill>
                <a:latin typeface="Aptos"/>
                <a:ea typeface="Aptos"/>
                <a:cs typeface="Aptos"/>
              </a:rPr>
              <a:t>MARKET PERFORMANCE</a:t>
            </a:r>
            <a:endParaRPr sz="900"/>
          </a:p>
        </p:txBody>
      </p:sp>
      <p:sp>
        <p:nvSpPr>
          <p:cNvPr id="4" name="Shape 2">
            <a:extLst xmlns:a="http://schemas.openxmlformats.org/drawingml/2006/main">
              <a:ext uri="{FF2B5EF4-FFF2-40B4-BE49-F238E27FC236}">
                <a16:creationId xmlns:a16="http://schemas.microsoft.com/office/drawing/2014/main" id="{77C26B2D-D200-422C-9B7F-6B62FCF0B02F}"/>
              </a:ext>
            </a:extLst>
          </p:cNvPr>
          <p:cNvSpPr>
            <a:spLocks xmlns:a="http://schemas.openxmlformats.org/drawingml/2006/main" noGrp="1"/>
          </p:cNvSpPr>
          <p:nvPr/>
        </p:nvSpPr>
        <p:spPr>
          <a:xfrm xmlns:a="http://schemas.openxmlformats.org/drawingml/2006/main">
            <a:off x="621792" y="7680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5" name="Shape 3">
            <a:extLst xmlns:a="http://schemas.openxmlformats.org/drawingml/2006/main">
              <a:ext uri="{FF2B5EF4-FFF2-40B4-BE49-F238E27FC236}">
                <a16:creationId xmlns:a16="http://schemas.microsoft.com/office/drawing/2014/main" id="{93061826-2F65-432A-B5B2-46D21FB4EAE1}"/>
              </a:ext>
            </a:extLst>
          </p:cNvPr>
          <p:cNvSpPr>
            <a:spLocks xmlns:a="http://schemas.openxmlformats.org/drawingml/2006/main" noGrp="1"/>
          </p:cNvSpPr>
          <p:nvPr/>
        </p:nvSpPr>
        <p:spPr>
          <a:xfrm xmlns:a="http://schemas.openxmlformats.org/drawingml/2006/main">
            <a:off x="621792" y="108264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6" name="Text 4">
            <a:extLst xmlns:a="http://schemas.openxmlformats.org/drawingml/2006/main">
              <a:ext uri="{FF2B5EF4-FFF2-40B4-BE49-F238E27FC236}">
                <a16:creationId xmlns:a16="http://schemas.microsoft.com/office/drawing/2014/main" id="{E51E8170-4336-494C-A038-493816589BC9}"/>
              </a:ext>
            </a:extLst>
          </p:cNvPr>
          <p:cNvSpPr>
            <a:spLocks xmlns:a="http://schemas.openxmlformats.org/drawingml/2006/main" noGrp="1"/>
          </p:cNvSpPr>
          <p:nvPr/>
        </p:nvSpPr>
        <p:spPr>
          <a:xfrm xmlns:a="http://schemas.openxmlformats.org/drawingml/2006/main">
            <a:off x="621792" y="10981944"/>
            <a:ext cx="694944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800">
                <a:solidFill>
                  <a:srgbClr val="64798B"/>
                </a:solidFill>
                <a:latin typeface="Aptos"/>
                <a:ea typeface="Aptos"/>
                <a:cs typeface="Aptos"/>
              </a:defRPr>
            </a:defPPr>
          </a:lstStyle>
          <a:p xmlns:a="http://schemas.openxmlformats.org/drawingml/2006/main">
            <a:pPr marL="0" indent="0">
              <a:buNone/>
              <a:defRPr sz="800">
                <a:solidFill>
                  <a:srgbClr val="64798B"/>
                </a:solidFill>
                <a:latin typeface="Aptos"/>
                <a:ea typeface="Aptos"/>
                <a:cs typeface="Aptos"/>
              </a:defRPr>
            </a:pPr>
            <a:r>
              <a:rPr sz="800" spc="60">
                <a:solidFill>
                  <a:srgbClr val="64798B"/>
                </a:solidFill>
                <a:latin typeface="Aptos"/>
                <a:ea typeface="Aptos"/>
                <a:cs typeface="Aptos"/>
              </a:rPr>
              <a:t>DATA ANALYTICS  /  ECONOMICS  /  BUSINESS INTELLIGENCE</a:t>
            </a:r>
            <a:endParaRPr sz="800"/>
          </a:p>
        </p:txBody>
      </p:sp>
      <p:sp>
        <p:nvSpPr>
          <p:cNvPr id="7" name="Text 5">
            <a:extLst xmlns:a="http://schemas.openxmlformats.org/drawingml/2006/main">
              <a:ext uri="{FF2B5EF4-FFF2-40B4-BE49-F238E27FC236}">
                <a16:creationId xmlns:a16="http://schemas.microsoft.com/office/drawing/2014/main" id="{798BFD0C-A1CF-4891-A5B0-789948C9AF9F}"/>
              </a:ext>
            </a:extLst>
          </p:cNvPr>
          <p:cNvSpPr>
            <a:spLocks xmlns:a="http://schemas.openxmlformats.org/drawingml/2006/main" noGrp="1"/>
          </p:cNvSpPr>
          <p:nvPr/>
        </p:nvSpPr>
        <p:spPr>
          <a:xfrm xmlns:a="http://schemas.openxmlformats.org/drawingml/2006/main">
            <a:off x="7955280" y="10963656"/>
            <a:ext cx="5486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1100" b="1">
                <a:solidFill>
                  <a:srgbClr val="0D233A"/>
                </a:solidFill>
                <a:latin typeface="Aptos"/>
                <a:ea typeface="Aptos"/>
                <a:cs typeface="Aptos"/>
              </a:defRPr>
            </a:defPPr>
          </a:lstStyle>
          <a:p xmlns:a="http://schemas.openxmlformats.org/drawingml/2006/main">
            <a:pPr marL="0" indent="0" algn="r">
              <a:buNone/>
              <a:defRPr sz="1100" b="1">
                <a:solidFill>
                  <a:srgbClr val="0D233A"/>
                </a:solidFill>
                <a:latin typeface="Aptos"/>
                <a:ea typeface="Aptos"/>
                <a:cs typeface="Aptos"/>
              </a:defRPr>
            </a:pPr>
            <a:r>
              <a:rPr sz="1100" b="1">
                <a:solidFill>
                  <a:srgbClr val="0D233A"/>
                </a:solidFill>
                <a:latin typeface="Aptos"/>
                <a:ea typeface="Aptos"/>
                <a:cs typeface="Aptos"/>
              </a:rPr>
              <a:t>03</a:t>
            </a:r>
            <a:endParaRPr sz="1100"/>
          </a:p>
        </p:txBody>
      </p:sp>
      <p:sp>
        <p:nvSpPr>
          <p:cNvPr id="8" name="">
            <a:extLst xmlns:a="http://schemas.openxmlformats.org/drawingml/2006/main">
              <a:ext uri="{FF2B5EF4-FFF2-40B4-BE49-F238E27FC236}">
                <a16:creationId xmlns:a16="http://schemas.microsoft.com/office/drawing/2014/main" id="{AAAF0307-56BA-49E5-94B9-7EB07540772A}"/>
              </a:ext>
            </a:extLst>
          </p:cNvPr>
          <p:cNvSpPr>
            <a:spLocks xmlns:a="http://schemas.openxmlformats.org/drawingml/2006/main" noGrp="1"/>
          </p:cNvSpPr>
          <p:nvPr/>
        </p:nvSpPr>
        <p:spPr>
          <a:xfrm xmlns:a="http://schemas.openxmlformats.org/drawingml/2006/main">
            <a:off x="638175" y="1714500"/>
            <a:ext cx="790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0D233A"/>
                </a:solidFill>
                <a:latin typeface="Aptos"/>
                <a:ea typeface="Aptos"/>
                <a:cs typeface="Aptos"/>
              </a:defRPr>
            </a:defPPr>
          </a:lstStyle>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Demand growth and</a:t>
            </a:r>
          </a:p>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occupancy can diverge</a:t>
            </a:r>
          </a:p>
        </p:txBody>
      </p:sp>
      <p:sp>
        <p:nvSpPr>
          <p:cNvPr id="9" name="">
            <a:extLst xmlns:a="http://schemas.openxmlformats.org/drawingml/2006/main">
              <a:ext uri="{FF2B5EF4-FFF2-40B4-BE49-F238E27FC236}">
                <a16:creationId xmlns:a16="http://schemas.microsoft.com/office/drawing/2014/main" id="{EB8C34BF-3DC9-40E1-844B-618932E3A917}"/>
              </a:ext>
            </a:extLst>
          </p:cNvPr>
          <p:cNvSpPr>
            <a:spLocks xmlns:a="http://schemas.openxmlformats.org/drawingml/2006/main" noGrp="1"/>
          </p:cNvSpPr>
          <p:nvPr/>
        </p:nvSpPr>
        <p:spPr>
          <a:xfrm xmlns:a="http://schemas.openxmlformats.org/drawingml/2006/main">
            <a:off x="666750" y="3619500"/>
            <a:ext cx="7762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C4C74"/>
                </a:solidFill>
                <a:latin typeface="Aptos"/>
                <a:ea typeface="Aptos"/>
                <a:cs typeface="Aptos"/>
              </a:defRPr>
            </a:defPPr>
          </a:lstStyle>
          <a:p xmlns:a="http://schemas.openxmlformats.org/drawingml/2006/main">
            <a:pPr>
              <a:defRPr sz="2175" b="0">
                <a:solidFill>
                  <a:srgbClr val="1C4C74"/>
                </a:solidFill>
                <a:latin typeface="Aptos"/>
                <a:ea typeface="Aptos"/>
                <a:cs typeface="Aptos"/>
              </a:defRPr>
            </a:pPr>
            <a:r>
              <a:rPr sz="2175" b="0">
                <a:solidFill>
                  <a:srgbClr val="1C4C74"/>
                </a:solidFill>
                <a:latin typeface="Aptos"/>
                <a:ea typeface="Aptos"/>
                <a:cs typeface="Aptos"/>
              </a:rPr>
              <a:t>Historical estimated Airbnb occupancy fell 3.8 percentage points in 2024.</a:t>
            </a:r>
          </a:p>
        </p:txBody>
      </p:sp>
      <p:graphicFrame>
        <p:nvGraphicFramePr>
          <p:cNvPr id="10" name="Chart">
            <a:extLst xmlns:a="http://schemas.openxmlformats.org/drawingml/2006/main">
              <a:ext uri="{FF2B5EF4-FFF2-40B4-BE49-F238E27FC236}">
                <a16:creationId xmlns:a16="http://schemas.microsoft.com/office/drawing/2014/main" id="{0DBCFA23-75B3-4D0C-886E-BC2BBA5F083A}"/>
              </a:ext>
            </a:extLst>
          </p:cNvPr>
          <p:cNvGraphicFramePr/>
          <p:nvPr/>
        </p:nvGraphicFramePr>
        <p:xfrm>
          <a:off xmlns:a="http://schemas.openxmlformats.org/drawingml/2006/main" x="666750" y="4857750"/>
          <a:ext xmlns:a="http://schemas.openxmlformats.org/drawingml/2006/main" cx="7715250" cy="4191000"/>
        </p:xfrm>
        <a:graphic xmlns:a="http://schemas.openxmlformats.org/drawingml/2006/main">
          <a:graphicData uri="http://schemas.openxmlformats.org/drawingml/2006/chart">
            <c:chart xmlns:r="http://schemas.openxmlformats.org/officeDocument/2006/relationships" xmlns:c="http://schemas.openxmlformats.org/drawingml/2006/chart" r:id="R93c6282d739f414c"/>
          </a:graphicData>
        </a:graphic>
      </p:graphicFrame>
      <p:sp>
        <p:nvSpPr>
          <p:cNvPr id="11" name="">
            <a:extLst xmlns:a="http://schemas.openxmlformats.org/drawingml/2006/main">
              <a:ext uri="{FF2B5EF4-FFF2-40B4-BE49-F238E27FC236}">
                <a16:creationId xmlns:a16="http://schemas.microsoft.com/office/drawing/2014/main" id="{BC537162-F370-4696-A545-DDDA6FE1C98D}"/>
              </a:ext>
            </a:extLst>
          </p:cNvPr>
          <p:cNvSpPr>
            <a:spLocks xmlns:a="http://schemas.openxmlformats.org/drawingml/2006/main" noGrp="1"/>
          </p:cNvSpPr>
          <p:nvPr/>
        </p:nvSpPr>
        <p:spPr>
          <a:xfrm xmlns:a="http://schemas.openxmlformats.org/drawingml/2006/main">
            <a:off x="666750" y="10001250"/>
            <a:ext cx="776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64798B"/>
                </a:solidFill>
                <a:latin typeface="Aptos"/>
                <a:ea typeface="Aptos"/>
                <a:cs typeface="Aptos"/>
              </a:defRPr>
            </a:defPPr>
          </a:lstStyle>
          <a:p xmlns:a="http://schemas.openxmlformats.org/drawingml/2006/main">
            <a:pPr>
              <a:defRPr sz="1425" b="0">
                <a:solidFill>
                  <a:srgbClr val="64798B"/>
                </a:solidFill>
                <a:latin typeface="Aptos"/>
                <a:ea typeface="Aptos"/>
                <a:cs typeface="Aptos"/>
              </a:defRPr>
            </a:pPr>
            <a:r>
              <a:rPr sz="1425" b="0">
                <a:solidFill>
                  <a:srgbClr val="64798B"/>
                </a:solidFill>
                <a:latin typeface="Aptos"/>
                <a:ea typeface="Aptos"/>
                <a:cs typeface="Aptos"/>
              </a:rPr>
              <a:t>Source: FULL research using AirDNA estimates. All-listing city benchmark, not a matched apartment cohort.</a:t>
            </a:r>
          </a:p>
        </p:txBody>
      </p:sp>
    </p:spTree>
    <p:extLst>
      <p:ext uri="{BB962C8B-B14F-4D97-AF65-F5344CB8AC3E}">
        <p14:creationId xmlns:p14="http://schemas.microsoft.com/office/powerpoint/2010/main" val="267926451"/>
      </p:ext>
    </p:extLst>
  </p:cSld>
</p:sld>
</file>

<file path=ppt/slides/slide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1B47B66-2ED6-4269-BC63-EB0D070703D3}"/>
              </a:ext>
            </a:extLst>
          </p:cNvPr>
          <p:cNvSpPr>
            <a:spLocks xmlns:a="http://schemas.openxmlformats.org/drawingml/2006/main" noGrp="1"/>
          </p:cNvSpPr>
          <p:nvPr/>
        </p:nvSpPr>
        <p:spPr>
          <a:xfrm xmlns:a="http://schemas.openxmlformats.org/drawingml/2006/main">
            <a:off x="621792" y="329184"/>
            <a:ext cx="54864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1100" b="1">
                <a:solidFill>
                  <a:srgbClr val="0D233A"/>
                </a:solidFill>
                <a:latin typeface="Aptos"/>
                <a:ea typeface="Aptos"/>
                <a:cs typeface="Aptos"/>
              </a:defRPr>
            </a:defPPr>
          </a:lstStyle>
          <a:p xmlns:a="http://schemas.openxmlformats.org/drawingml/2006/main">
            <a:pPr>
              <a:defRPr sz="1100" b="1">
                <a:solidFill>
                  <a:srgbClr val="0D233A"/>
                </a:solidFill>
                <a:latin typeface="Aptos"/>
                <a:ea typeface="Aptos"/>
                <a:cs typeface="Aptos"/>
              </a:defRPr>
            </a:pPr>
            <a:r>
              <a:rPr sz="1100" b="1">
                <a:solidFill>
                  <a:srgbClr val="0D233A"/>
                </a:solidFill>
                <a:latin typeface="Aptos"/>
                <a:ea typeface="Aptos"/>
                <a:cs typeface="Aptos"/>
                <a:hlinkClick xmlns:r="http://schemas.openxmlformats.org/officeDocument/2006/relationships" r:id="Rfba92c8130e448fe"/>
              </a:rPr>
              <a:t>PK / PEDRAM KOJOURI / LINKEDIN</a:t>
            </a:r>
          </a:p>
        </p:txBody>
      </p:sp>
      <p:sp>
        <p:nvSpPr>
          <p:cNvPr id="3" name="Text 1">
            <a:extLst xmlns:a="http://schemas.openxmlformats.org/drawingml/2006/main">
              <a:ext uri="{FF2B5EF4-FFF2-40B4-BE49-F238E27FC236}">
                <a16:creationId xmlns:a16="http://schemas.microsoft.com/office/drawing/2014/main" id="{E2B90F25-CBD2-48EB-AFFB-C15261E6186F}"/>
              </a:ext>
            </a:extLst>
          </p:cNvPr>
          <p:cNvSpPr>
            <a:spLocks xmlns:a="http://schemas.openxmlformats.org/drawingml/2006/main" noGrp="1"/>
          </p:cNvSpPr>
          <p:nvPr/>
        </p:nvSpPr>
        <p:spPr>
          <a:xfrm xmlns:a="http://schemas.openxmlformats.org/drawingml/2006/main">
            <a:off x="5760720" y="329184"/>
            <a:ext cx="277977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900">
                <a:solidFill>
                  <a:srgbClr val="64798B"/>
                </a:solidFill>
                <a:latin typeface="Aptos"/>
                <a:ea typeface="Aptos"/>
                <a:cs typeface="Aptos"/>
              </a:defRPr>
            </a:defPPr>
          </a:lstStyle>
          <a:p xmlns:a="http://schemas.openxmlformats.org/drawingml/2006/main">
            <a:pPr marL="0" indent="0" algn="r">
              <a:buNone/>
              <a:defRPr sz="900">
                <a:solidFill>
                  <a:srgbClr val="64798B"/>
                </a:solidFill>
                <a:latin typeface="Aptos"/>
                <a:ea typeface="Aptos"/>
                <a:cs typeface="Aptos"/>
              </a:defRPr>
            </a:pPr>
            <a:r>
              <a:rPr sz="900" spc="120">
                <a:solidFill>
                  <a:srgbClr val="64798B"/>
                </a:solidFill>
                <a:latin typeface="Aptos"/>
                <a:ea typeface="Aptos"/>
                <a:cs typeface="Aptos"/>
              </a:rPr>
              <a:t>BGY AND CITY TOURISM</a:t>
            </a:r>
            <a:endParaRPr sz="900"/>
          </a:p>
        </p:txBody>
      </p:sp>
      <p:sp>
        <p:nvSpPr>
          <p:cNvPr id="4" name="Shape 2">
            <a:extLst xmlns:a="http://schemas.openxmlformats.org/drawingml/2006/main">
              <a:ext uri="{FF2B5EF4-FFF2-40B4-BE49-F238E27FC236}">
                <a16:creationId xmlns:a16="http://schemas.microsoft.com/office/drawing/2014/main" id="{91F8D9FA-8635-48F2-8DBE-9AA3974DA209}"/>
              </a:ext>
            </a:extLst>
          </p:cNvPr>
          <p:cNvSpPr>
            <a:spLocks xmlns:a="http://schemas.openxmlformats.org/drawingml/2006/main" noGrp="1"/>
          </p:cNvSpPr>
          <p:nvPr/>
        </p:nvSpPr>
        <p:spPr>
          <a:xfrm xmlns:a="http://schemas.openxmlformats.org/drawingml/2006/main">
            <a:off x="621792" y="7680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5" name="Shape 3">
            <a:extLst xmlns:a="http://schemas.openxmlformats.org/drawingml/2006/main">
              <a:ext uri="{FF2B5EF4-FFF2-40B4-BE49-F238E27FC236}">
                <a16:creationId xmlns:a16="http://schemas.microsoft.com/office/drawing/2014/main" id="{4CF422EA-3AF2-4045-BED0-8DB1E0139D44}"/>
              </a:ext>
            </a:extLst>
          </p:cNvPr>
          <p:cNvSpPr>
            <a:spLocks xmlns:a="http://schemas.openxmlformats.org/drawingml/2006/main" noGrp="1"/>
          </p:cNvSpPr>
          <p:nvPr/>
        </p:nvSpPr>
        <p:spPr>
          <a:xfrm xmlns:a="http://schemas.openxmlformats.org/drawingml/2006/main">
            <a:off x="621792" y="108264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6" name="Text 4">
            <a:extLst xmlns:a="http://schemas.openxmlformats.org/drawingml/2006/main">
              <a:ext uri="{FF2B5EF4-FFF2-40B4-BE49-F238E27FC236}">
                <a16:creationId xmlns:a16="http://schemas.microsoft.com/office/drawing/2014/main" id="{49CC5B13-4959-4EF1-A706-1096F90DD735}"/>
              </a:ext>
            </a:extLst>
          </p:cNvPr>
          <p:cNvSpPr>
            <a:spLocks xmlns:a="http://schemas.openxmlformats.org/drawingml/2006/main" noGrp="1"/>
          </p:cNvSpPr>
          <p:nvPr/>
        </p:nvSpPr>
        <p:spPr>
          <a:xfrm xmlns:a="http://schemas.openxmlformats.org/drawingml/2006/main">
            <a:off x="621792" y="10981944"/>
            <a:ext cx="694944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800">
                <a:solidFill>
                  <a:srgbClr val="64798B"/>
                </a:solidFill>
                <a:latin typeface="Aptos"/>
                <a:ea typeface="Aptos"/>
                <a:cs typeface="Aptos"/>
              </a:defRPr>
            </a:defPPr>
          </a:lstStyle>
          <a:p xmlns:a="http://schemas.openxmlformats.org/drawingml/2006/main">
            <a:pPr marL="0" indent="0">
              <a:buNone/>
              <a:defRPr sz="800">
                <a:solidFill>
                  <a:srgbClr val="64798B"/>
                </a:solidFill>
                <a:latin typeface="Aptos"/>
                <a:ea typeface="Aptos"/>
                <a:cs typeface="Aptos"/>
              </a:defRPr>
            </a:pPr>
            <a:r>
              <a:rPr sz="800" spc="60">
                <a:solidFill>
                  <a:srgbClr val="64798B"/>
                </a:solidFill>
                <a:latin typeface="Aptos"/>
                <a:ea typeface="Aptos"/>
                <a:cs typeface="Aptos"/>
              </a:rPr>
              <a:t>DATA ANALYTICS  /  ECONOMICS  /  BUSINESS INTELLIGENCE</a:t>
            </a:r>
            <a:endParaRPr sz="800"/>
          </a:p>
        </p:txBody>
      </p:sp>
      <p:sp>
        <p:nvSpPr>
          <p:cNvPr id="7" name="Text 5">
            <a:extLst xmlns:a="http://schemas.openxmlformats.org/drawingml/2006/main">
              <a:ext uri="{FF2B5EF4-FFF2-40B4-BE49-F238E27FC236}">
                <a16:creationId xmlns:a16="http://schemas.microsoft.com/office/drawing/2014/main" id="{0C5B1F0B-1571-4FBF-96EB-2D89C64C91DF}"/>
              </a:ext>
            </a:extLst>
          </p:cNvPr>
          <p:cNvSpPr>
            <a:spLocks xmlns:a="http://schemas.openxmlformats.org/drawingml/2006/main" noGrp="1"/>
          </p:cNvSpPr>
          <p:nvPr/>
        </p:nvSpPr>
        <p:spPr>
          <a:xfrm xmlns:a="http://schemas.openxmlformats.org/drawingml/2006/main">
            <a:off x="7955280" y="10963656"/>
            <a:ext cx="5486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1100" b="1">
                <a:solidFill>
                  <a:srgbClr val="0D233A"/>
                </a:solidFill>
                <a:latin typeface="Aptos"/>
                <a:ea typeface="Aptos"/>
                <a:cs typeface="Aptos"/>
              </a:defRPr>
            </a:defPPr>
          </a:lstStyle>
          <a:p xmlns:a="http://schemas.openxmlformats.org/drawingml/2006/main">
            <a:pPr marL="0" indent="0" algn="r">
              <a:buNone/>
              <a:defRPr sz="1100" b="1">
                <a:solidFill>
                  <a:srgbClr val="0D233A"/>
                </a:solidFill>
                <a:latin typeface="Aptos"/>
                <a:ea typeface="Aptos"/>
                <a:cs typeface="Aptos"/>
              </a:defRPr>
            </a:pPr>
            <a:r>
              <a:rPr sz="1100" b="1">
                <a:solidFill>
                  <a:srgbClr val="0D233A"/>
                </a:solidFill>
                <a:latin typeface="Aptos"/>
                <a:ea typeface="Aptos"/>
                <a:cs typeface="Aptos"/>
              </a:rPr>
              <a:t>04</a:t>
            </a:r>
            <a:endParaRPr sz="1100"/>
          </a:p>
        </p:txBody>
      </p:sp>
      <p:sp>
        <p:nvSpPr>
          <p:cNvPr id="8" name="">
            <a:extLst xmlns:a="http://schemas.openxmlformats.org/drawingml/2006/main">
              <a:ext uri="{FF2B5EF4-FFF2-40B4-BE49-F238E27FC236}">
                <a16:creationId xmlns:a16="http://schemas.microsoft.com/office/drawing/2014/main" id="{09471FB6-FEE5-43F1-B68D-C1C8C81C6730}"/>
              </a:ext>
            </a:extLst>
          </p:cNvPr>
          <p:cNvSpPr>
            <a:spLocks xmlns:a="http://schemas.openxmlformats.org/drawingml/2006/main" noGrp="1"/>
          </p:cNvSpPr>
          <p:nvPr/>
        </p:nvSpPr>
        <p:spPr>
          <a:xfrm xmlns:a="http://schemas.openxmlformats.org/drawingml/2006/main">
            <a:off x="638175" y="1714500"/>
            <a:ext cx="790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0D233A"/>
                </a:solidFill>
                <a:latin typeface="Aptos"/>
                <a:ea typeface="Aptos"/>
                <a:cs typeface="Aptos"/>
              </a:defRPr>
            </a:defPPr>
          </a:lstStyle>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Airport activity is</a:t>
            </a:r>
          </a:p>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a contextual signal</a:t>
            </a:r>
          </a:p>
        </p:txBody>
      </p:sp>
      <p:sp>
        <p:nvSpPr>
          <p:cNvPr id="9" name="">
            <a:extLst xmlns:a="http://schemas.openxmlformats.org/drawingml/2006/main">
              <a:ext uri="{FF2B5EF4-FFF2-40B4-BE49-F238E27FC236}">
                <a16:creationId xmlns:a16="http://schemas.microsoft.com/office/drawing/2014/main" id="{C1281279-4732-46C1-8365-77F6B8072886}"/>
              </a:ext>
            </a:extLst>
          </p:cNvPr>
          <p:cNvSpPr>
            <a:spLocks xmlns:a="http://schemas.openxmlformats.org/drawingml/2006/main" noGrp="1"/>
          </p:cNvSpPr>
          <p:nvPr/>
        </p:nvSpPr>
        <p:spPr>
          <a:xfrm xmlns:a="http://schemas.openxmlformats.org/drawingml/2006/main">
            <a:off x="666750" y="3619500"/>
            <a:ext cx="7762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C4C74"/>
                </a:solidFill>
                <a:latin typeface="Aptos"/>
                <a:ea typeface="Aptos"/>
                <a:cs typeface="Aptos"/>
              </a:defRPr>
            </a:defPPr>
          </a:lstStyle>
          <a:p xmlns:a="http://schemas.openxmlformats.org/drawingml/2006/main">
            <a:pPr>
              <a:defRPr sz="2175" b="0">
                <a:solidFill>
                  <a:srgbClr val="1C4C74"/>
                </a:solidFill>
                <a:latin typeface="Aptos"/>
                <a:ea typeface="Aptos"/>
                <a:cs typeface="Aptos"/>
              </a:defRPr>
            </a:pPr>
            <a:r>
              <a:rPr sz="2175" b="0">
                <a:solidFill>
                  <a:srgbClr val="1C4C74"/>
                </a:solidFill>
                <a:latin typeface="Aptos"/>
                <a:ea typeface="Aptos"/>
                <a:cs typeface="Aptos"/>
              </a:rPr>
              <a:t>2025: BGY passengers −2.4%, city guest nights +12.6%.</a:t>
            </a:r>
          </a:p>
        </p:txBody>
      </p:sp>
      <p:graphicFrame>
        <p:nvGraphicFramePr>
          <p:cNvPr id="10" name="Chart">
            <a:extLst xmlns:a="http://schemas.openxmlformats.org/drawingml/2006/main">
              <a:ext uri="{FF2B5EF4-FFF2-40B4-BE49-F238E27FC236}">
                <a16:creationId xmlns:a16="http://schemas.microsoft.com/office/drawing/2014/main" id="{346E058D-5DF2-47B6-A26F-FAF237899122}"/>
              </a:ext>
            </a:extLst>
          </p:cNvPr>
          <p:cNvGraphicFramePr/>
          <p:nvPr/>
        </p:nvGraphicFramePr>
        <p:xfrm>
          <a:off xmlns:a="http://schemas.openxmlformats.org/drawingml/2006/main" x="666750" y="4810125"/>
          <a:ext xmlns:a="http://schemas.openxmlformats.org/drawingml/2006/main" cx="7715250" cy="4000500"/>
        </p:xfrm>
        <a:graphic xmlns:a="http://schemas.openxmlformats.org/drawingml/2006/main">
          <a:graphicData uri="http://schemas.openxmlformats.org/drawingml/2006/chart">
            <c:chart xmlns:r="http://schemas.openxmlformats.org/officeDocument/2006/relationships" xmlns:c="http://schemas.openxmlformats.org/drawingml/2006/chart" r:id="R9e68216ed0c6449c"/>
          </a:graphicData>
        </a:graphic>
      </p:graphicFrame>
      <p:sp>
        <p:nvSpPr>
          <p:cNvPr id="11" name="">
            <a:extLst xmlns:a="http://schemas.openxmlformats.org/drawingml/2006/main">
              <a:ext uri="{FF2B5EF4-FFF2-40B4-BE49-F238E27FC236}">
                <a16:creationId xmlns:a16="http://schemas.microsoft.com/office/drawing/2014/main" id="{88EEFBD3-4A62-49E5-BAC6-A414E9B5C713}"/>
              </a:ext>
            </a:extLst>
          </p:cNvPr>
          <p:cNvSpPr>
            <a:spLocks xmlns:a="http://schemas.openxmlformats.org/drawingml/2006/main" noGrp="1"/>
          </p:cNvSpPr>
          <p:nvPr/>
        </p:nvSpPr>
        <p:spPr>
          <a:xfrm xmlns:a="http://schemas.openxmlformats.org/drawingml/2006/main">
            <a:off x="666750" y="10001250"/>
            <a:ext cx="776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64798B"/>
                </a:solidFill>
                <a:latin typeface="Aptos"/>
                <a:ea typeface="Aptos"/>
                <a:cs typeface="Aptos"/>
              </a:defRPr>
            </a:defPPr>
          </a:lstStyle>
          <a:p xmlns:a="http://schemas.openxmlformats.org/drawingml/2006/main">
            <a:pPr>
              <a:defRPr sz="1425" b="0">
                <a:solidFill>
                  <a:srgbClr val="64798B"/>
                </a:solidFill>
                <a:latin typeface="Aptos"/>
                <a:ea typeface="Aptos"/>
                <a:cs typeface="Aptos"/>
              </a:defRPr>
            </a:pPr>
            <a:r>
              <a:rPr sz="1425" b="0">
                <a:solidFill>
                  <a:srgbClr val="64798B"/>
                </a:solidFill>
                <a:latin typeface="Aptos"/>
                <a:ea typeface="Aptos"/>
                <a:cs typeface="Aptos"/>
              </a:rPr>
              <a:t>Sources: Assaeroporti and official city tourism releases. Passenger movements do not identify tourists staying locally. No causal effect estimated.</a:t>
            </a:r>
          </a:p>
        </p:txBody>
      </p:sp>
    </p:spTree>
    <p:extLst>
      <p:ext uri="{BB962C8B-B14F-4D97-AF65-F5344CB8AC3E}">
        <p14:creationId xmlns:p14="http://schemas.microsoft.com/office/powerpoint/2010/main" val="1902073115"/>
      </p:ext>
    </p:extLst>
  </p:cSld>
</p:sld>
</file>

<file path=ppt/slides/slide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15248AC-7C00-48B9-8C38-E4A99A0A1912}"/>
              </a:ext>
            </a:extLst>
          </p:cNvPr>
          <p:cNvSpPr>
            <a:spLocks xmlns:a="http://schemas.openxmlformats.org/drawingml/2006/main" noGrp="1"/>
          </p:cNvSpPr>
          <p:nvPr/>
        </p:nvSpPr>
        <p:spPr>
          <a:xfrm xmlns:a="http://schemas.openxmlformats.org/drawingml/2006/main">
            <a:off x="621792" y="329184"/>
            <a:ext cx="54864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1100" b="1">
                <a:solidFill>
                  <a:srgbClr val="0D233A"/>
                </a:solidFill>
                <a:latin typeface="Aptos"/>
                <a:ea typeface="Aptos"/>
                <a:cs typeface="Aptos"/>
              </a:defRPr>
            </a:defPPr>
          </a:lstStyle>
          <a:p xmlns:a="http://schemas.openxmlformats.org/drawingml/2006/main">
            <a:pPr>
              <a:defRPr sz="1100" b="1">
                <a:solidFill>
                  <a:srgbClr val="0D233A"/>
                </a:solidFill>
                <a:latin typeface="Aptos"/>
                <a:ea typeface="Aptos"/>
                <a:cs typeface="Aptos"/>
              </a:defRPr>
            </a:pPr>
            <a:r>
              <a:rPr sz="1100" b="1">
                <a:solidFill>
                  <a:srgbClr val="0D233A"/>
                </a:solidFill>
                <a:latin typeface="Aptos"/>
                <a:ea typeface="Aptos"/>
                <a:cs typeface="Aptos"/>
                <a:hlinkClick xmlns:r="http://schemas.openxmlformats.org/officeDocument/2006/relationships" r:id="R0090792ea43a4da2"/>
              </a:rPr>
              <a:t>PK / PEDRAM KOJOURI / LINKEDIN</a:t>
            </a:r>
          </a:p>
        </p:txBody>
      </p:sp>
      <p:sp>
        <p:nvSpPr>
          <p:cNvPr id="3" name="Text 1">
            <a:extLst xmlns:a="http://schemas.openxmlformats.org/drawingml/2006/main">
              <a:ext uri="{FF2B5EF4-FFF2-40B4-BE49-F238E27FC236}">
                <a16:creationId xmlns:a16="http://schemas.microsoft.com/office/drawing/2014/main" id="{BC94C848-1830-42FE-86F1-0DDF9C84D754}"/>
              </a:ext>
            </a:extLst>
          </p:cNvPr>
          <p:cNvSpPr>
            <a:spLocks xmlns:a="http://schemas.openxmlformats.org/drawingml/2006/main" noGrp="1"/>
          </p:cNvSpPr>
          <p:nvPr/>
        </p:nvSpPr>
        <p:spPr>
          <a:xfrm xmlns:a="http://schemas.openxmlformats.org/drawingml/2006/main">
            <a:off x="5760720" y="329184"/>
            <a:ext cx="277977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900">
                <a:solidFill>
                  <a:srgbClr val="64798B"/>
                </a:solidFill>
                <a:latin typeface="Aptos"/>
                <a:ea typeface="Aptos"/>
                <a:cs typeface="Aptos"/>
              </a:defRPr>
            </a:defPPr>
          </a:lstStyle>
          <a:p xmlns:a="http://schemas.openxmlformats.org/drawingml/2006/main">
            <a:pPr marL="0" indent="0" algn="r">
              <a:buNone/>
              <a:defRPr sz="900">
                <a:solidFill>
                  <a:srgbClr val="64798B"/>
                </a:solidFill>
                <a:latin typeface="Aptos"/>
                <a:ea typeface="Aptos"/>
                <a:cs typeface="Aptos"/>
              </a:defRPr>
            </a:pPr>
            <a:r>
              <a:rPr sz="900" spc="120">
                <a:solidFill>
                  <a:srgbClr val="64798B"/>
                </a:solidFill>
                <a:latin typeface="Aptos"/>
                <a:ea typeface="Aptos"/>
                <a:cs typeface="Aptos"/>
              </a:rPr>
              <a:t>THE FINANCIAL COMPARISON</a:t>
            </a:r>
            <a:endParaRPr sz="900"/>
          </a:p>
        </p:txBody>
      </p:sp>
      <p:sp>
        <p:nvSpPr>
          <p:cNvPr id="4" name="Shape 2">
            <a:extLst xmlns:a="http://schemas.openxmlformats.org/drawingml/2006/main">
              <a:ext uri="{FF2B5EF4-FFF2-40B4-BE49-F238E27FC236}">
                <a16:creationId xmlns:a16="http://schemas.microsoft.com/office/drawing/2014/main" id="{FF9A762F-AF70-42E5-9962-B33EED79D02D}"/>
              </a:ext>
            </a:extLst>
          </p:cNvPr>
          <p:cNvSpPr>
            <a:spLocks xmlns:a="http://schemas.openxmlformats.org/drawingml/2006/main" noGrp="1"/>
          </p:cNvSpPr>
          <p:nvPr/>
        </p:nvSpPr>
        <p:spPr>
          <a:xfrm xmlns:a="http://schemas.openxmlformats.org/drawingml/2006/main">
            <a:off x="621792" y="7680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5" name="Shape 3">
            <a:extLst xmlns:a="http://schemas.openxmlformats.org/drawingml/2006/main">
              <a:ext uri="{FF2B5EF4-FFF2-40B4-BE49-F238E27FC236}">
                <a16:creationId xmlns:a16="http://schemas.microsoft.com/office/drawing/2014/main" id="{19A0069D-877C-4C17-BA19-119AC18C5ABA}"/>
              </a:ext>
            </a:extLst>
          </p:cNvPr>
          <p:cNvSpPr>
            <a:spLocks xmlns:a="http://schemas.openxmlformats.org/drawingml/2006/main" noGrp="1"/>
          </p:cNvSpPr>
          <p:nvPr/>
        </p:nvSpPr>
        <p:spPr>
          <a:xfrm xmlns:a="http://schemas.openxmlformats.org/drawingml/2006/main">
            <a:off x="621792" y="108264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6" name="Text 4">
            <a:extLst xmlns:a="http://schemas.openxmlformats.org/drawingml/2006/main">
              <a:ext uri="{FF2B5EF4-FFF2-40B4-BE49-F238E27FC236}">
                <a16:creationId xmlns:a16="http://schemas.microsoft.com/office/drawing/2014/main" id="{26CEC455-A907-4B46-BE7F-DD57B3A8F3C3}"/>
              </a:ext>
            </a:extLst>
          </p:cNvPr>
          <p:cNvSpPr>
            <a:spLocks xmlns:a="http://schemas.openxmlformats.org/drawingml/2006/main" noGrp="1"/>
          </p:cNvSpPr>
          <p:nvPr/>
        </p:nvSpPr>
        <p:spPr>
          <a:xfrm xmlns:a="http://schemas.openxmlformats.org/drawingml/2006/main">
            <a:off x="621792" y="10981944"/>
            <a:ext cx="694944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800">
                <a:solidFill>
                  <a:srgbClr val="64798B"/>
                </a:solidFill>
                <a:latin typeface="Aptos"/>
                <a:ea typeface="Aptos"/>
                <a:cs typeface="Aptos"/>
              </a:defRPr>
            </a:defPPr>
          </a:lstStyle>
          <a:p xmlns:a="http://schemas.openxmlformats.org/drawingml/2006/main">
            <a:pPr marL="0" indent="0">
              <a:buNone/>
              <a:defRPr sz="800">
                <a:solidFill>
                  <a:srgbClr val="64798B"/>
                </a:solidFill>
                <a:latin typeface="Aptos"/>
                <a:ea typeface="Aptos"/>
                <a:cs typeface="Aptos"/>
              </a:defRPr>
            </a:pPr>
            <a:r>
              <a:rPr sz="800" spc="60">
                <a:solidFill>
                  <a:srgbClr val="64798B"/>
                </a:solidFill>
                <a:latin typeface="Aptos"/>
                <a:ea typeface="Aptos"/>
                <a:cs typeface="Aptos"/>
              </a:rPr>
              <a:t>DATA ANALYTICS  /  ECONOMICS  /  BUSINESS INTELLIGENCE</a:t>
            </a:r>
            <a:endParaRPr sz="800"/>
          </a:p>
        </p:txBody>
      </p:sp>
      <p:sp>
        <p:nvSpPr>
          <p:cNvPr id="7" name="Text 5">
            <a:extLst xmlns:a="http://schemas.openxmlformats.org/drawingml/2006/main">
              <a:ext uri="{FF2B5EF4-FFF2-40B4-BE49-F238E27FC236}">
                <a16:creationId xmlns:a16="http://schemas.microsoft.com/office/drawing/2014/main" id="{EF550773-8AC8-4D0E-9C0C-9D400881257C}"/>
              </a:ext>
            </a:extLst>
          </p:cNvPr>
          <p:cNvSpPr>
            <a:spLocks xmlns:a="http://schemas.openxmlformats.org/drawingml/2006/main" noGrp="1"/>
          </p:cNvSpPr>
          <p:nvPr/>
        </p:nvSpPr>
        <p:spPr>
          <a:xfrm xmlns:a="http://schemas.openxmlformats.org/drawingml/2006/main">
            <a:off x="7955280" y="10963656"/>
            <a:ext cx="5486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1100" b="1">
                <a:solidFill>
                  <a:srgbClr val="0D233A"/>
                </a:solidFill>
                <a:latin typeface="Aptos"/>
                <a:ea typeface="Aptos"/>
                <a:cs typeface="Aptos"/>
              </a:defRPr>
            </a:defPPr>
          </a:lstStyle>
          <a:p xmlns:a="http://schemas.openxmlformats.org/drawingml/2006/main">
            <a:pPr marL="0" indent="0" algn="r">
              <a:buNone/>
              <a:defRPr sz="1100" b="1">
                <a:solidFill>
                  <a:srgbClr val="0D233A"/>
                </a:solidFill>
                <a:latin typeface="Aptos"/>
                <a:ea typeface="Aptos"/>
                <a:cs typeface="Aptos"/>
              </a:defRPr>
            </a:pPr>
            <a:r>
              <a:rPr sz="1100" b="1">
                <a:solidFill>
                  <a:srgbClr val="0D233A"/>
                </a:solidFill>
                <a:latin typeface="Aptos"/>
                <a:ea typeface="Aptos"/>
                <a:cs typeface="Aptos"/>
              </a:rPr>
              <a:t>05</a:t>
            </a:r>
            <a:endParaRPr sz="1100"/>
          </a:p>
        </p:txBody>
      </p:sp>
      <p:sp>
        <p:nvSpPr>
          <p:cNvPr id="8" name="">
            <a:extLst xmlns:a="http://schemas.openxmlformats.org/drawingml/2006/main">
              <a:ext uri="{FF2B5EF4-FFF2-40B4-BE49-F238E27FC236}">
                <a16:creationId xmlns:a16="http://schemas.microsoft.com/office/drawing/2014/main" id="{037E47D8-5D66-4E92-B7DB-92C64DA6FC1F}"/>
              </a:ext>
            </a:extLst>
          </p:cNvPr>
          <p:cNvSpPr>
            <a:spLocks xmlns:a="http://schemas.openxmlformats.org/drawingml/2006/main" noGrp="1"/>
          </p:cNvSpPr>
          <p:nvPr/>
        </p:nvSpPr>
        <p:spPr>
          <a:xfrm xmlns:a="http://schemas.openxmlformats.org/drawingml/2006/main">
            <a:off x="638175" y="1714500"/>
            <a:ext cx="790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0D233A"/>
                </a:solidFill>
                <a:latin typeface="Aptos"/>
                <a:ea typeface="Aptos"/>
                <a:cs typeface="Aptos"/>
              </a:defRPr>
            </a:defPPr>
          </a:lstStyle>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A close cash comparison</a:t>
            </a:r>
          </a:p>
        </p:txBody>
      </p:sp>
      <p:sp>
        <p:nvSpPr>
          <p:cNvPr id="9" name="">
            <a:extLst xmlns:a="http://schemas.openxmlformats.org/drawingml/2006/main">
              <a:ext uri="{FF2B5EF4-FFF2-40B4-BE49-F238E27FC236}">
                <a16:creationId xmlns:a16="http://schemas.microsoft.com/office/drawing/2014/main" id="{2D85C8A9-5B95-4516-AB5A-63D19617218B}"/>
              </a:ext>
            </a:extLst>
          </p:cNvPr>
          <p:cNvSpPr>
            <a:spLocks xmlns:a="http://schemas.openxmlformats.org/drawingml/2006/main" noGrp="1"/>
          </p:cNvSpPr>
          <p:nvPr/>
        </p:nvSpPr>
        <p:spPr>
          <a:xfrm xmlns:a="http://schemas.openxmlformats.org/drawingml/2006/main">
            <a:off x="666750" y="3619500"/>
            <a:ext cx="7762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C4C74"/>
                </a:solidFill>
                <a:latin typeface="Aptos"/>
                <a:ea typeface="Aptos"/>
                <a:cs typeface="Aptos"/>
              </a:defRPr>
            </a:defPPr>
          </a:lstStyle>
          <a:p xmlns:a="http://schemas.openxmlformats.org/drawingml/2006/main">
            <a:pPr>
              <a:defRPr sz="2175" b="0">
                <a:solidFill>
                  <a:srgbClr val="1C4C74"/>
                </a:solidFill>
                <a:latin typeface="Aptos"/>
                <a:ea typeface="Aptos"/>
                <a:cs typeface="Aptos"/>
              </a:defRPr>
            </a:pPr>
            <a:r>
              <a:rPr sz="2175" b="0">
                <a:solidFill>
                  <a:srgbClr val="1C4C74"/>
                </a:solidFill>
                <a:latin typeface="Aptos"/>
                <a:ea typeface="Aptos"/>
                <a:cs typeface="Aptos"/>
              </a:rPr>
              <a:t>Annual net cash income under the base scenario</a:t>
            </a:r>
          </a:p>
        </p:txBody>
      </p:sp>
      <p:sp>
        <p:nvSpPr>
          <p:cNvPr id="10" name="">
            <a:extLst xmlns:a="http://schemas.openxmlformats.org/drawingml/2006/main">
              <a:ext uri="{FF2B5EF4-FFF2-40B4-BE49-F238E27FC236}">
                <a16:creationId xmlns:a16="http://schemas.microsoft.com/office/drawing/2014/main" id="{1D093B81-3D67-48E2-A873-5F2EFA669DC5}"/>
              </a:ext>
            </a:extLst>
          </p:cNvPr>
          <p:cNvSpPr>
            <a:spLocks xmlns:a="http://schemas.openxmlformats.org/drawingml/2006/main" noGrp="1"/>
          </p:cNvSpPr>
          <p:nvPr/>
        </p:nvSpPr>
        <p:spPr>
          <a:xfrm xmlns:a="http://schemas.openxmlformats.org/drawingml/2006/main">
            <a:off x="666750" y="5238750"/>
            <a:ext cx="771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64798B"/>
                </a:solidFill>
                <a:latin typeface="Aptos"/>
                <a:ea typeface="Aptos"/>
                <a:cs typeface="Aptos"/>
              </a:defRPr>
            </a:defPPr>
          </a:lstStyle>
          <a:p xmlns:a="http://schemas.openxmlformats.org/drawingml/2006/main">
            <a:pPr>
              <a:defRPr sz="1800" b="1">
                <a:solidFill>
                  <a:srgbClr val="64798B"/>
                </a:solidFill>
                <a:latin typeface="Aptos"/>
                <a:ea typeface="Aptos"/>
                <a:cs typeface="Aptos"/>
              </a:defRPr>
            </a:pPr>
            <a:r>
              <a:rPr sz="1800" b="1">
                <a:solidFill>
                  <a:srgbClr val="64798B"/>
                </a:solidFill>
                <a:latin typeface="Aptos"/>
                <a:ea typeface="Aptos"/>
                <a:cs typeface="Aptos"/>
              </a:rPr>
              <a:t>SHORT-TERM</a:t>
            </a:r>
          </a:p>
        </p:txBody>
      </p:sp>
      <p:sp>
        <p:nvSpPr>
          <p:cNvPr id="11" name="">
            <a:extLst xmlns:a="http://schemas.openxmlformats.org/drawingml/2006/main">
              <a:ext uri="{FF2B5EF4-FFF2-40B4-BE49-F238E27FC236}">
                <a16:creationId xmlns:a16="http://schemas.microsoft.com/office/drawing/2014/main" id="{0B6B2832-8B92-4FFE-BAEB-32EB37E121F0}"/>
              </a:ext>
            </a:extLst>
          </p:cNvPr>
          <p:cNvSpPr>
            <a:spLocks xmlns:a="http://schemas.openxmlformats.org/drawingml/2006/main" noGrp="1"/>
          </p:cNvSpPr>
          <p:nvPr/>
        </p:nvSpPr>
        <p:spPr>
          <a:xfrm xmlns:a="http://schemas.openxmlformats.org/drawingml/2006/main">
            <a:off x="666750" y="5810250"/>
            <a:ext cx="771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700" b="1">
                <a:solidFill>
                  <a:srgbClr val="1C4C74"/>
                </a:solidFill>
                <a:latin typeface="Aptos"/>
                <a:ea typeface="Aptos"/>
                <a:cs typeface="Aptos"/>
              </a:defRPr>
            </a:defPPr>
          </a:lstStyle>
          <a:p xmlns:a="http://schemas.openxmlformats.org/drawingml/2006/main">
            <a:pPr>
              <a:defRPr sz="5700" b="1">
                <a:solidFill>
                  <a:srgbClr val="1C4C74"/>
                </a:solidFill>
                <a:latin typeface="Aptos"/>
                <a:ea typeface="Aptos"/>
                <a:cs typeface="Aptos"/>
              </a:defRPr>
            </a:pPr>
            <a:r>
              <a:rPr sz="5700" b="1">
                <a:solidFill>
                  <a:srgbClr val="1C4C74"/>
                </a:solidFill>
                <a:latin typeface="Aptos"/>
                <a:ea typeface="Aptos"/>
                <a:cs typeface="Aptos"/>
              </a:rPr>
              <a:t>€6,545</a:t>
            </a:r>
          </a:p>
        </p:txBody>
      </p:sp>
      <p:sp>
        <p:nvSpPr>
          <p:cNvPr id="12" name="">
            <a:extLst xmlns:a="http://schemas.openxmlformats.org/drawingml/2006/main">
              <a:ext uri="{FF2B5EF4-FFF2-40B4-BE49-F238E27FC236}">
                <a16:creationId xmlns:a16="http://schemas.microsoft.com/office/drawing/2014/main" id="{5D11EAE2-AFAC-48A7-A098-9FFA4E28EE21}"/>
              </a:ext>
            </a:extLst>
          </p:cNvPr>
          <p:cNvSpPr>
            <a:spLocks xmlns:a="http://schemas.openxmlformats.org/drawingml/2006/main" noGrp="1"/>
          </p:cNvSpPr>
          <p:nvPr/>
        </p:nvSpPr>
        <p:spPr>
          <a:xfrm xmlns:a="http://schemas.openxmlformats.org/drawingml/2006/main">
            <a:off x="666750" y="7239000"/>
            <a:ext cx="771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64798B"/>
                </a:solidFill>
                <a:latin typeface="Aptos"/>
                <a:ea typeface="Aptos"/>
                <a:cs typeface="Aptos"/>
              </a:defRPr>
            </a:defPPr>
          </a:lstStyle>
          <a:p xmlns:a="http://schemas.openxmlformats.org/drawingml/2006/main">
            <a:pPr>
              <a:defRPr sz="1800" b="1">
                <a:solidFill>
                  <a:srgbClr val="64798B"/>
                </a:solidFill>
                <a:latin typeface="Aptos"/>
                <a:ea typeface="Aptos"/>
                <a:cs typeface="Aptos"/>
              </a:defRPr>
            </a:pPr>
            <a:r>
              <a:rPr sz="1800" b="1">
                <a:solidFill>
                  <a:srgbClr val="64798B"/>
                </a:solidFill>
                <a:latin typeface="Aptos"/>
                <a:ea typeface="Aptos"/>
                <a:cs typeface="Aptos"/>
              </a:rPr>
              <a:t>LONG-TERM</a:t>
            </a:r>
          </a:p>
        </p:txBody>
      </p:sp>
      <p:sp>
        <p:nvSpPr>
          <p:cNvPr id="13" name="">
            <a:extLst xmlns:a="http://schemas.openxmlformats.org/drawingml/2006/main">
              <a:ext uri="{FF2B5EF4-FFF2-40B4-BE49-F238E27FC236}">
                <a16:creationId xmlns:a16="http://schemas.microsoft.com/office/drawing/2014/main" id="{93A7248B-0301-4056-A05D-DB7FCE5EEF39}"/>
              </a:ext>
            </a:extLst>
          </p:cNvPr>
          <p:cNvSpPr>
            <a:spLocks xmlns:a="http://schemas.openxmlformats.org/drawingml/2006/main" noGrp="1"/>
          </p:cNvSpPr>
          <p:nvPr/>
        </p:nvSpPr>
        <p:spPr>
          <a:xfrm xmlns:a="http://schemas.openxmlformats.org/drawingml/2006/main">
            <a:off x="666750" y="7810500"/>
            <a:ext cx="771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700" b="1">
                <a:solidFill>
                  <a:srgbClr val="32B8B2"/>
                </a:solidFill>
                <a:latin typeface="Aptos"/>
                <a:ea typeface="Aptos"/>
                <a:cs typeface="Aptos"/>
              </a:defRPr>
            </a:defPPr>
          </a:lstStyle>
          <a:p xmlns:a="http://schemas.openxmlformats.org/drawingml/2006/main">
            <a:pPr>
              <a:defRPr sz="5700" b="1">
                <a:solidFill>
                  <a:srgbClr val="32B8B2"/>
                </a:solidFill>
                <a:latin typeface="Aptos"/>
                <a:ea typeface="Aptos"/>
                <a:cs typeface="Aptos"/>
              </a:defRPr>
            </a:pPr>
            <a:r>
              <a:rPr sz="5700" b="1">
                <a:solidFill>
                  <a:srgbClr val="32B8B2"/>
                </a:solidFill>
                <a:latin typeface="Aptos"/>
                <a:ea typeface="Aptos"/>
                <a:cs typeface="Aptos"/>
              </a:rPr>
              <a:t>€6,732</a:t>
            </a:r>
          </a:p>
        </p:txBody>
      </p:sp>
      <p:sp>
        <p:nvSpPr>
          <p:cNvPr id="14" name="">
            <a:extLst xmlns:a="http://schemas.openxmlformats.org/drawingml/2006/main">
              <a:ext uri="{FF2B5EF4-FFF2-40B4-BE49-F238E27FC236}">
                <a16:creationId xmlns:a16="http://schemas.microsoft.com/office/drawing/2014/main" id="{6A039380-54FD-4758-BD08-A7629DC909BB}"/>
              </a:ext>
            </a:extLst>
          </p:cNvPr>
          <p:cNvSpPr>
            <a:spLocks xmlns:a="http://schemas.openxmlformats.org/drawingml/2006/main" noGrp="1"/>
          </p:cNvSpPr>
          <p:nvPr/>
        </p:nvSpPr>
        <p:spPr>
          <a:xfrm xmlns:a="http://schemas.openxmlformats.org/drawingml/2006/main">
            <a:off x="666750" y="10001250"/>
            <a:ext cx="776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64798B"/>
                </a:solidFill>
                <a:latin typeface="Aptos"/>
                <a:ea typeface="Aptos"/>
                <a:cs typeface="Aptos"/>
              </a:defRPr>
            </a:defPPr>
          </a:lstStyle>
          <a:p xmlns:a="http://schemas.openxmlformats.org/drawingml/2006/main">
            <a:pPr>
              <a:defRPr sz="1425" b="0">
                <a:solidFill>
                  <a:srgbClr val="64798B"/>
                </a:solidFill>
                <a:latin typeface="Aptos"/>
                <a:ea typeface="Aptos"/>
                <a:cs typeface="Aptos"/>
              </a:defRPr>
            </a:pPr>
            <a:r>
              <a:rPr sz="1425" b="0">
                <a:solidFill>
                  <a:srgbClr val="64798B"/>
                </a:solidFill>
                <a:latin typeface="Aptos"/>
                <a:ea typeface="Aptos"/>
                <a:cs typeface="Aptos"/>
              </a:rPr>
              <a:t>Scenario values, not observed profits. LTR: €900/month, 12 paid months. The €900 input is an assumption, not a verified 21-listing mean.</a:t>
            </a:r>
          </a:p>
        </p:txBody>
      </p:sp>
    </p:spTree>
    <p:extLst>
      <p:ext uri="{BB962C8B-B14F-4D97-AF65-F5344CB8AC3E}">
        <p14:creationId xmlns:p14="http://schemas.microsoft.com/office/powerpoint/2010/main" val="1232765807"/>
      </p:ext>
    </p:extLst>
  </p:cSld>
</p:sld>
</file>

<file path=ppt/slides/slide6.xml><?xml version="1.0" encoding="utf-8"?>
<p:sld xmlns:p="http://schemas.openxmlformats.org/presentationml/2006/main">
  <p:cSld>
    <p:bg>
      <p:bgPr>
        <a:solidFill xmlns:a="http://schemas.openxmlformats.org/drawingml/2006/main">
          <a:srgbClr val="0D23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7F2F19-B2A1-4279-AD25-F92BCE75417B}"/>
              </a:ext>
            </a:extLst>
          </p:cNvPr>
          <p:cNvSpPr>
            <a:spLocks xmlns:a="http://schemas.openxmlformats.org/drawingml/2006/main" noGrp="1"/>
          </p:cNvSpPr>
          <p:nvPr/>
        </p:nvSpPr>
        <p:spPr>
          <a:xfrm xmlns:a="http://schemas.openxmlformats.org/drawingml/2006/main">
            <a:off x="621792" y="329184"/>
            <a:ext cx="54864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1100" b="1">
                <a:solidFill>
                  <a:srgbClr val="FFFFFF"/>
                </a:solidFill>
                <a:latin typeface="Aptos"/>
                <a:ea typeface="Aptos"/>
                <a:cs typeface="Aptos"/>
              </a:defRPr>
            </a:defPPr>
          </a:lstStyle>
          <a:p xmlns:a="http://schemas.openxmlformats.org/drawingml/2006/main">
            <a:pPr>
              <a:defRPr sz="1100" b="1">
                <a:solidFill>
                  <a:srgbClr val="FFFFFF"/>
                </a:solidFill>
                <a:latin typeface="Aptos"/>
                <a:ea typeface="Aptos"/>
                <a:cs typeface="Aptos"/>
              </a:defRPr>
            </a:pPr>
            <a:r>
              <a:rPr sz="1100" b="1">
                <a:solidFill>
                  <a:srgbClr val="FFFFFF"/>
                </a:solidFill>
                <a:latin typeface="Aptos"/>
                <a:ea typeface="Aptos"/>
                <a:cs typeface="Aptos"/>
                <a:hlinkClick xmlns:r="http://schemas.openxmlformats.org/officeDocument/2006/relationships" r:id="R748177b24e444e05"/>
              </a:rPr>
              <a:t>PK / PEDRAM KOJOURI / LINKEDIN</a:t>
            </a:r>
          </a:p>
        </p:txBody>
      </p:sp>
      <p:sp>
        <p:nvSpPr>
          <p:cNvPr id="3" name="Text 1">
            <a:extLst xmlns:a="http://schemas.openxmlformats.org/drawingml/2006/main">
              <a:ext uri="{FF2B5EF4-FFF2-40B4-BE49-F238E27FC236}">
                <a16:creationId xmlns:a16="http://schemas.microsoft.com/office/drawing/2014/main" id="{61CE459C-A4EE-48D8-9147-C211A5AD5CB0}"/>
              </a:ext>
            </a:extLst>
          </p:cNvPr>
          <p:cNvSpPr>
            <a:spLocks xmlns:a="http://schemas.openxmlformats.org/drawingml/2006/main" noGrp="1"/>
          </p:cNvSpPr>
          <p:nvPr/>
        </p:nvSpPr>
        <p:spPr>
          <a:xfrm xmlns:a="http://schemas.openxmlformats.org/drawingml/2006/main">
            <a:off x="5760720" y="329184"/>
            <a:ext cx="277977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900">
                <a:solidFill>
                  <a:srgbClr val="9CCACD"/>
                </a:solidFill>
                <a:latin typeface="Aptos"/>
                <a:ea typeface="Aptos"/>
                <a:cs typeface="Aptos"/>
              </a:defRPr>
            </a:defPPr>
          </a:lstStyle>
          <a:p xmlns:a="http://schemas.openxmlformats.org/drawingml/2006/main">
            <a:pPr marL="0" indent="0" algn="r">
              <a:buNone/>
              <a:defRPr sz="900">
                <a:solidFill>
                  <a:srgbClr val="9CCACD"/>
                </a:solidFill>
                <a:latin typeface="Aptos"/>
                <a:ea typeface="Aptos"/>
                <a:cs typeface="Aptos"/>
              </a:defRPr>
            </a:pPr>
            <a:r>
              <a:rPr sz="900" spc="120">
                <a:solidFill>
                  <a:srgbClr val="9CCACD"/>
                </a:solidFill>
                <a:latin typeface="Aptos"/>
                <a:ea typeface="Aptos"/>
                <a:cs typeface="Aptos"/>
              </a:rPr>
              <a:t>SENSITIVITY ANALYSIS</a:t>
            </a:r>
            <a:endParaRPr sz="900"/>
          </a:p>
        </p:txBody>
      </p:sp>
      <p:sp>
        <p:nvSpPr>
          <p:cNvPr id="4" name="Shape 2">
            <a:extLst xmlns:a="http://schemas.openxmlformats.org/drawingml/2006/main">
              <a:ext uri="{FF2B5EF4-FFF2-40B4-BE49-F238E27FC236}">
                <a16:creationId xmlns:a16="http://schemas.microsoft.com/office/drawing/2014/main" id="{6B0BC56E-D57C-4F22-82AD-E83214A79999}"/>
              </a:ext>
            </a:extLst>
          </p:cNvPr>
          <p:cNvSpPr>
            <a:spLocks xmlns:a="http://schemas.openxmlformats.org/drawingml/2006/main" noGrp="1"/>
          </p:cNvSpPr>
          <p:nvPr/>
        </p:nvSpPr>
        <p:spPr>
          <a:xfrm xmlns:a="http://schemas.openxmlformats.org/drawingml/2006/main">
            <a:off x="621792" y="7680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5" name="Shape 3">
            <a:extLst xmlns:a="http://schemas.openxmlformats.org/drawingml/2006/main">
              <a:ext uri="{FF2B5EF4-FFF2-40B4-BE49-F238E27FC236}">
                <a16:creationId xmlns:a16="http://schemas.microsoft.com/office/drawing/2014/main" id="{83DE1B24-A719-43F2-A42F-A0CBE6AF92CF}"/>
              </a:ext>
            </a:extLst>
          </p:cNvPr>
          <p:cNvSpPr>
            <a:spLocks xmlns:a="http://schemas.openxmlformats.org/drawingml/2006/main" noGrp="1"/>
          </p:cNvSpPr>
          <p:nvPr/>
        </p:nvSpPr>
        <p:spPr>
          <a:xfrm xmlns:a="http://schemas.openxmlformats.org/drawingml/2006/main">
            <a:off x="621792" y="108264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6" name="Text 4">
            <a:extLst xmlns:a="http://schemas.openxmlformats.org/drawingml/2006/main">
              <a:ext uri="{FF2B5EF4-FFF2-40B4-BE49-F238E27FC236}">
                <a16:creationId xmlns:a16="http://schemas.microsoft.com/office/drawing/2014/main" id="{6EDE5890-B34F-407A-A2EF-F3B6E4984DEB}"/>
              </a:ext>
            </a:extLst>
          </p:cNvPr>
          <p:cNvSpPr>
            <a:spLocks xmlns:a="http://schemas.openxmlformats.org/drawingml/2006/main" noGrp="1"/>
          </p:cNvSpPr>
          <p:nvPr/>
        </p:nvSpPr>
        <p:spPr>
          <a:xfrm xmlns:a="http://schemas.openxmlformats.org/drawingml/2006/main">
            <a:off x="621792" y="10981944"/>
            <a:ext cx="694944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800">
                <a:solidFill>
                  <a:srgbClr val="ADCDD2"/>
                </a:solidFill>
                <a:latin typeface="Aptos"/>
                <a:ea typeface="Aptos"/>
                <a:cs typeface="Aptos"/>
              </a:defRPr>
            </a:defPPr>
          </a:lstStyle>
          <a:p xmlns:a="http://schemas.openxmlformats.org/drawingml/2006/main">
            <a:pPr marL="0" indent="0">
              <a:buNone/>
              <a:defRPr sz="800">
                <a:solidFill>
                  <a:srgbClr val="ADCDD2"/>
                </a:solidFill>
                <a:latin typeface="Aptos"/>
                <a:ea typeface="Aptos"/>
                <a:cs typeface="Aptos"/>
              </a:defRPr>
            </a:pPr>
            <a:r>
              <a:rPr sz="800" spc="60">
                <a:solidFill>
                  <a:srgbClr val="ADCDD2"/>
                </a:solidFill>
                <a:latin typeface="Aptos"/>
                <a:ea typeface="Aptos"/>
                <a:cs typeface="Aptos"/>
              </a:rPr>
              <a:t>DATA ANALYTICS  /  ECONOMICS  /  BUSINESS INTELLIGENCE</a:t>
            </a:r>
            <a:endParaRPr sz="800"/>
          </a:p>
        </p:txBody>
      </p:sp>
      <p:sp>
        <p:nvSpPr>
          <p:cNvPr id="7" name="Text 5">
            <a:extLst xmlns:a="http://schemas.openxmlformats.org/drawingml/2006/main">
              <a:ext uri="{FF2B5EF4-FFF2-40B4-BE49-F238E27FC236}">
                <a16:creationId xmlns:a16="http://schemas.microsoft.com/office/drawing/2014/main" id="{00EDD637-18F4-4D2D-9F49-0D472E09A077}"/>
              </a:ext>
            </a:extLst>
          </p:cNvPr>
          <p:cNvSpPr>
            <a:spLocks xmlns:a="http://schemas.openxmlformats.org/drawingml/2006/main" noGrp="1"/>
          </p:cNvSpPr>
          <p:nvPr/>
        </p:nvSpPr>
        <p:spPr>
          <a:xfrm xmlns:a="http://schemas.openxmlformats.org/drawingml/2006/main">
            <a:off x="7955280" y="10963656"/>
            <a:ext cx="5486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1100" b="1">
                <a:solidFill>
                  <a:srgbClr val="FFFFFF"/>
                </a:solidFill>
                <a:latin typeface="Aptos"/>
                <a:ea typeface="Aptos"/>
                <a:cs typeface="Aptos"/>
              </a:defRPr>
            </a:defPPr>
          </a:lstStyle>
          <a:p xmlns:a="http://schemas.openxmlformats.org/drawingml/2006/main">
            <a:pPr marL="0" indent="0" algn="r">
              <a:buNone/>
              <a:defRPr sz="1100" b="1">
                <a:solidFill>
                  <a:srgbClr val="FFFFFF"/>
                </a:solidFill>
                <a:latin typeface="Aptos"/>
                <a:ea typeface="Aptos"/>
                <a:cs typeface="Aptos"/>
              </a:defRPr>
            </a:pPr>
            <a:r>
              <a:rPr sz="1100" b="1">
                <a:solidFill>
                  <a:srgbClr val="FFFFFF"/>
                </a:solidFill>
                <a:latin typeface="Aptos"/>
                <a:ea typeface="Aptos"/>
                <a:cs typeface="Aptos"/>
              </a:rPr>
              <a:t>06</a:t>
            </a:r>
            <a:endParaRPr sz="1100"/>
          </a:p>
        </p:txBody>
      </p:sp>
      <p:sp>
        <p:nvSpPr>
          <p:cNvPr id="8" name="">
            <a:extLst xmlns:a="http://schemas.openxmlformats.org/drawingml/2006/main">
              <a:ext uri="{FF2B5EF4-FFF2-40B4-BE49-F238E27FC236}">
                <a16:creationId xmlns:a16="http://schemas.microsoft.com/office/drawing/2014/main" id="{B78056BA-842E-4BC6-8F19-76A600E4F13E}"/>
              </a:ext>
            </a:extLst>
          </p:cNvPr>
          <p:cNvSpPr>
            <a:spLocks xmlns:a="http://schemas.openxmlformats.org/drawingml/2006/main" noGrp="1"/>
          </p:cNvSpPr>
          <p:nvPr/>
        </p:nvSpPr>
        <p:spPr>
          <a:xfrm xmlns:a="http://schemas.openxmlformats.org/drawingml/2006/main">
            <a:off x="638175" y="1714500"/>
            <a:ext cx="790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FFFFFF"/>
                </a:solidFill>
                <a:latin typeface="Aptos"/>
                <a:ea typeface="Aptos"/>
                <a:cs typeface="Aptos"/>
              </a:defRPr>
            </a:defPPr>
          </a:lstStyle>
          <a:p xmlns:a="http://schemas.openxmlformats.org/drawingml/2006/main">
            <a:pPr>
              <a:defRPr sz="4200" b="1">
                <a:solidFill>
                  <a:srgbClr val="FFFFFF"/>
                </a:solidFill>
                <a:latin typeface="Aptos"/>
                <a:ea typeface="Aptos"/>
                <a:cs typeface="Aptos"/>
              </a:defRPr>
            </a:pPr>
            <a:r>
              <a:rPr sz="4200" b="1">
                <a:solidFill>
                  <a:srgbClr val="FFFFFF"/>
                </a:solidFill>
                <a:latin typeface="Aptos"/>
                <a:ea typeface="Aptos"/>
                <a:cs typeface="Aptos"/>
              </a:rPr>
              <a:t>Price and bookings</a:t>
            </a:r>
          </a:p>
          <a:p xmlns:a="http://schemas.openxmlformats.org/drawingml/2006/main">
            <a:pPr>
              <a:defRPr sz="4200" b="1">
                <a:solidFill>
                  <a:srgbClr val="FFFFFF"/>
                </a:solidFill>
                <a:latin typeface="Aptos"/>
                <a:ea typeface="Aptos"/>
                <a:cs typeface="Aptos"/>
              </a:defRPr>
            </a:pPr>
            <a:r>
              <a:rPr sz="4200" b="1">
                <a:solidFill>
                  <a:srgbClr val="FFFFFF"/>
                </a:solidFill>
                <a:latin typeface="Aptos"/>
                <a:ea typeface="Aptos"/>
                <a:cs typeface="Aptos"/>
              </a:rPr>
              <a:t>change the result</a:t>
            </a:r>
          </a:p>
        </p:txBody>
      </p:sp>
      <p:sp>
        <p:nvSpPr>
          <p:cNvPr id="9" name="">
            <a:extLst xmlns:a="http://schemas.openxmlformats.org/drawingml/2006/main">
              <a:ext uri="{FF2B5EF4-FFF2-40B4-BE49-F238E27FC236}">
                <a16:creationId xmlns:a16="http://schemas.microsoft.com/office/drawing/2014/main" id="{D3F7FAA3-BF24-4E28-B6D2-E14204041A85}"/>
              </a:ext>
            </a:extLst>
          </p:cNvPr>
          <p:cNvSpPr>
            <a:spLocks xmlns:a="http://schemas.openxmlformats.org/drawingml/2006/main" noGrp="1"/>
          </p:cNvSpPr>
          <p:nvPr/>
        </p:nvSpPr>
        <p:spPr>
          <a:xfrm xmlns:a="http://schemas.openxmlformats.org/drawingml/2006/main">
            <a:off x="666750" y="3619500"/>
            <a:ext cx="7762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ADCDD2"/>
                </a:solidFill>
                <a:latin typeface="Aptos"/>
                <a:ea typeface="Aptos"/>
                <a:cs typeface="Aptos"/>
              </a:defRPr>
            </a:defPPr>
          </a:lstStyle>
          <a:p xmlns:a="http://schemas.openxmlformats.org/drawingml/2006/main">
            <a:pPr>
              <a:defRPr sz="2175" b="0">
                <a:solidFill>
                  <a:srgbClr val="ADCDD2"/>
                </a:solidFill>
                <a:latin typeface="Aptos"/>
                <a:ea typeface="Aptos"/>
                <a:cs typeface="Aptos"/>
              </a:defRPr>
            </a:pPr>
            <a:r>
              <a:rPr sz="2175" b="0">
                <a:solidFill>
                  <a:srgbClr val="ADCDD2"/>
                </a:solidFill>
                <a:latin typeface="Aptos"/>
                <a:ea typeface="Aptos"/>
                <a:cs typeface="Aptos"/>
              </a:rPr>
              <a:t>Short-term annual net cash income, EUR</a:t>
            </a:r>
          </a:p>
        </p:txBody>
      </p:sp>
      <p:graphicFrame>
        <p:nvGraphicFramePr>
          <p:cNvPr id="10" name="">
            <a:extLst xmlns:a="http://schemas.openxmlformats.org/drawingml/2006/main">
              <a:ext uri="{FF2B5EF4-FFF2-40B4-BE49-F238E27FC236}">
                <a16:creationId xmlns:a16="http://schemas.microsoft.com/office/drawing/2014/main" id="{DE9D5BDE-53CE-443B-A556-913DDF726434}"/>
              </a:ext>
            </a:extLst>
          </p:cNvPr>
          <p:cNvGraphicFramePr/>
          <p:nvPr/>
        </p:nvGraphicFramePr>
        <p:xfrm>
          <a:off xmlns:a="http://schemas.openxmlformats.org/drawingml/2006/main" x="666750" y="5095875"/>
          <a:ext xmlns:a="http://schemas.openxmlformats.org/drawingml/2006/main" cx="7762875" cy="3429000"/>
        </p:xfrm>
        <a:graphic xmlns:a="http://schemas.openxmlformats.org/drawingml/2006/main">
          <a:graphicData uri="http://schemas.openxmlformats.org/drawingml/2006/table">
            <a:tbl>
              <a:tblPr/>
              <a:tblGrid>
                <a:gridCol w="1940719"/>
                <a:gridCol w="1940719"/>
                <a:gridCol w="1940719"/>
                <a:gridCol w="1940719"/>
              </a:tblGrid>
              <a:tr h="857250">
                <a:tc>
                  <a:txBody>
                    <a:bodyPr/>
                    <a:lstStyle/>
                    <a:p>
                      <a:r>
                        <a:rPr sz="2025" b="1">
                          <a:solidFill>
                            <a:srgbClr val="FFFFFF"/>
                          </a:solidFill>
                          <a:latin typeface="Aptos"/>
                          <a:ea typeface="Aptos"/>
                          <a:cs typeface="Aptos"/>
                        </a:rPr>
                        <a:t>Booked nights</a:t>
                      </a:r>
                    </a:p>
                  </a:txBody>
                  <a:tcPr marL="91440" marR="91440" marT="45720" marB="45720">
                    <a:solidFill>
                      <a:srgbClr val="0D233A"/>
                    </a:solidFill>
                  </a:tcPr>
                </a:tc>
                <a:tc>
                  <a:txBody>
                    <a:bodyPr/>
                    <a:lstStyle/>
                    <a:p>
                      <a:r>
                        <a:rPr sz="2025" b="1">
                          <a:solidFill>
                            <a:srgbClr val="FFFFFF"/>
                          </a:solidFill>
                          <a:latin typeface="Aptos"/>
                          <a:ea typeface="Aptos"/>
                          <a:cs typeface="Aptos"/>
                        </a:rPr>
                        <a:t>€100/night</a:t>
                      </a:r>
                    </a:p>
                  </a:txBody>
                  <a:tcPr marL="91440" marR="91440" marT="45720" marB="45720">
                    <a:solidFill>
                      <a:srgbClr val="0D233A"/>
                    </a:solidFill>
                  </a:tcPr>
                </a:tc>
                <a:tc>
                  <a:txBody>
                    <a:bodyPr/>
                    <a:lstStyle/>
                    <a:p>
                      <a:r>
                        <a:rPr sz="2025" b="1">
                          <a:solidFill>
                            <a:srgbClr val="FFFFFF"/>
                          </a:solidFill>
                          <a:latin typeface="Aptos"/>
                          <a:ea typeface="Aptos"/>
                          <a:cs typeface="Aptos"/>
                        </a:rPr>
                        <a:t>€115/night</a:t>
                      </a:r>
                    </a:p>
                  </a:txBody>
                  <a:tcPr marL="91440" marR="91440" marT="45720" marB="45720">
                    <a:solidFill>
                      <a:srgbClr val="0D233A"/>
                    </a:solidFill>
                  </a:tcPr>
                </a:tc>
                <a:tc>
                  <a:txBody>
                    <a:bodyPr/>
                    <a:lstStyle/>
                    <a:p>
                      <a:r>
                        <a:rPr sz="2025" b="1">
                          <a:solidFill>
                            <a:srgbClr val="FFFFFF"/>
                          </a:solidFill>
                          <a:latin typeface="Aptos"/>
                          <a:ea typeface="Aptos"/>
                          <a:cs typeface="Aptos"/>
                        </a:rPr>
                        <a:t>€130/night</a:t>
                      </a:r>
                    </a:p>
                  </a:txBody>
                  <a:tcPr marL="91440" marR="91440" marT="45720" marB="45720">
                    <a:solidFill>
                      <a:srgbClr val="0D233A"/>
                    </a:solidFill>
                  </a:tcPr>
                </a:tc>
              </a:tr>
              <a:tr h="857250">
                <a:tc>
                  <a:txBody>
                    <a:bodyPr/>
                    <a:lstStyle/>
                    <a:p>
                      <a:r>
                        <a:rPr sz="2025" b="0">
                          <a:solidFill>
                            <a:srgbClr val="0D233A"/>
                          </a:solidFill>
                          <a:latin typeface="Aptos"/>
                          <a:ea typeface="Aptos"/>
                          <a:cs typeface="Aptos"/>
                        </a:rPr>
                        <a:t>150</a:t>
                      </a:r>
                    </a:p>
                  </a:txBody>
                  <a:tcPr marL="91440" marR="91440" marT="45720" marB="45720">
                    <a:solidFill>
                      <a:srgbClr val="FFFFFF"/>
                    </a:solidFill>
                  </a:tcPr>
                </a:tc>
                <a:tc>
                  <a:txBody>
                    <a:bodyPr/>
                    <a:lstStyle/>
                    <a:p>
                      <a:r>
                        <a:rPr sz="2025" b="0">
                          <a:solidFill>
                            <a:srgbClr val="0D233A"/>
                          </a:solidFill>
                          <a:latin typeface="Aptos"/>
                          <a:ea typeface="Aptos"/>
                          <a:cs typeface="Aptos"/>
                        </a:rPr>
                        <a:t>3,525</a:t>
                      </a:r>
                    </a:p>
                  </a:txBody>
                  <a:tcPr marL="91440" marR="91440" marT="45720" marB="45720">
                    <a:solidFill>
                      <a:srgbClr val="FFFFFF"/>
                    </a:solidFill>
                  </a:tcPr>
                </a:tc>
                <a:tc>
                  <a:txBody>
                    <a:bodyPr/>
                    <a:lstStyle/>
                    <a:p>
                      <a:r>
                        <a:rPr sz="2025" b="0">
                          <a:solidFill>
                            <a:srgbClr val="0D233A"/>
                          </a:solidFill>
                          <a:latin typeface="Aptos"/>
                          <a:ea typeface="Aptos"/>
                          <a:cs typeface="Aptos"/>
                        </a:rPr>
                        <a:t>4,954</a:t>
                      </a:r>
                    </a:p>
                  </a:txBody>
                  <a:tcPr marL="91440" marR="91440" marT="45720" marB="45720">
                    <a:solidFill>
                      <a:srgbClr val="FFFFFF"/>
                    </a:solidFill>
                  </a:tcPr>
                </a:tc>
                <a:tc>
                  <a:txBody>
                    <a:bodyPr/>
                    <a:lstStyle/>
                    <a:p>
                      <a:r>
                        <a:rPr sz="2025" b="0">
                          <a:solidFill>
                            <a:srgbClr val="0D233A"/>
                          </a:solidFill>
                          <a:latin typeface="Aptos"/>
                          <a:ea typeface="Aptos"/>
                          <a:cs typeface="Aptos"/>
                        </a:rPr>
                        <a:t>6,383</a:t>
                      </a:r>
                    </a:p>
                  </a:txBody>
                  <a:tcPr marL="91440" marR="91440" marT="45720" marB="45720">
                    <a:solidFill>
                      <a:srgbClr val="FFFFFF"/>
                    </a:solidFill>
                  </a:tcPr>
                </a:tc>
              </a:tr>
              <a:tr h="857250">
                <a:tc>
                  <a:txBody>
                    <a:bodyPr/>
                    <a:lstStyle/>
                    <a:p>
                      <a:r>
                        <a:rPr sz="2025" b="0">
                          <a:solidFill>
                            <a:srgbClr val="0D233A"/>
                          </a:solidFill>
                          <a:latin typeface="Aptos"/>
                          <a:ea typeface="Aptos"/>
                          <a:cs typeface="Aptos"/>
                        </a:rPr>
                        <a:t>180</a:t>
                      </a:r>
                    </a:p>
                  </a:txBody>
                  <a:tcPr marL="91440" marR="91440" marT="45720" marB="45720">
                    <a:solidFill>
                      <a:srgbClr val="E9EFF4"/>
                    </a:solidFill>
                  </a:tcPr>
                </a:tc>
                <a:tc>
                  <a:txBody>
                    <a:bodyPr/>
                    <a:lstStyle/>
                    <a:p>
                      <a:r>
                        <a:rPr sz="2025" b="0">
                          <a:solidFill>
                            <a:srgbClr val="0D233A"/>
                          </a:solidFill>
                          <a:latin typeface="Aptos"/>
                          <a:ea typeface="Aptos"/>
                          <a:cs typeface="Aptos"/>
                        </a:rPr>
                        <a:t>4,830</a:t>
                      </a:r>
                    </a:p>
                  </a:txBody>
                  <a:tcPr marL="91440" marR="91440" marT="45720" marB="45720">
                    <a:solidFill>
                      <a:srgbClr val="E9EFF4"/>
                    </a:solidFill>
                  </a:tcPr>
                </a:tc>
                <a:tc>
                  <a:txBody>
                    <a:bodyPr/>
                    <a:lstStyle/>
                    <a:p>
                      <a:r>
                        <a:rPr sz="2025" b="0">
                          <a:solidFill>
                            <a:srgbClr val="0D233A"/>
                          </a:solidFill>
                          <a:latin typeface="Aptos"/>
                          <a:ea typeface="Aptos"/>
                          <a:cs typeface="Aptos"/>
                        </a:rPr>
                        <a:t>6,545</a:t>
                      </a:r>
                    </a:p>
                  </a:txBody>
                  <a:tcPr marL="91440" marR="91440" marT="45720" marB="45720">
                    <a:solidFill>
                      <a:srgbClr val="E9EFF4"/>
                    </a:solidFill>
                  </a:tcPr>
                </a:tc>
                <a:tc>
                  <a:txBody>
                    <a:bodyPr/>
                    <a:lstStyle/>
                    <a:p>
                      <a:r>
                        <a:rPr sz="2025" b="0">
                          <a:solidFill>
                            <a:srgbClr val="0D233A"/>
                          </a:solidFill>
                          <a:latin typeface="Aptos"/>
                          <a:ea typeface="Aptos"/>
                          <a:cs typeface="Aptos"/>
                        </a:rPr>
                        <a:t>8,259</a:t>
                      </a:r>
                    </a:p>
                  </a:txBody>
                  <a:tcPr marL="91440" marR="91440" marT="45720" marB="45720">
                    <a:solidFill>
                      <a:srgbClr val="E9EFF4"/>
                    </a:solidFill>
                  </a:tcPr>
                </a:tc>
              </a:tr>
              <a:tr h="857250">
                <a:tc>
                  <a:txBody>
                    <a:bodyPr/>
                    <a:lstStyle/>
                    <a:p>
                      <a:r>
                        <a:rPr sz="2025" b="0">
                          <a:solidFill>
                            <a:srgbClr val="0D233A"/>
                          </a:solidFill>
                          <a:latin typeface="Aptos"/>
                          <a:ea typeface="Aptos"/>
                          <a:cs typeface="Aptos"/>
                        </a:rPr>
                        <a:t>210</a:t>
                      </a:r>
                    </a:p>
                  </a:txBody>
                  <a:tcPr marL="91440" marR="91440" marT="45720" marB="45720">
                    <a:solidFill>
                      <a:srgbClr val="FFFFFF"/>
                    </a:solidFill>
                  </a:tcPr>
                </a:tc>
                <a:tc>
                  <a:txBody>
                    <a:bodyPr/>
                    <a:lstStyle/>
                    <a:p>
                      <a:r>
                        <a:rPr sz="2025" b="0">
                          <a:solidFill>
                            <a:srgbClr val="0D233A"/>
                          </a:solidFill>
                          <a:latin typeface="Aptos"/>
                          <a:ea typeface="Aptos"/>
                          <a:cs typeface="Aptos"/>
                        </a:rPr>
                        <a:t>6,135</a:t>
                      </a:r>
                    </a:p>
                  </a:txBody>
                  <a:tcPr marL="91440" marR="91440" marT="45720" marB="45720">
                    <a:solidFill>
                      <a:srgbClr val="FFFFFF"/>
                    </a:solidFill>
                  </a:tcPr>
                </a:tc>
                <a:tc>
                  <a:txBody>
                    <a:bodyPr/>
                    <a:lstStyle/>
                    <a:p>
                      <a:r>
                        <a:rPr sz="2025" b="0">
                          <a:solidFill>
                            <a:srgbClr val="0D233A"/>
                          </a:solidFill>
                          <a:latin typeface="Aptos"/>
                          <a:ea typeface="Aptos"/>
                          <a:cs typeface="Aptos"/>
                        </a:rPr>
                        <a:t>8,135</a:t>
                      </a:r>
                    </a:p>
                  </a:txBody>
                  <a:tcPr marL="91440" marR="91440" marT="45720" marB="45720">
                    <a:solidFill>
                      <a:srgbClr val="FFFFFF"/>
                    </a:solidFill>
                  </a:tcPr>
                </a:tc>
                <a:tc>
                  <a:txBody>
                    <a:bodyPr/>
                    <a:lstStyle/>
                    <a:p>
                      <a:r>
                        <a:rPr sz="2025" b="0">
                          <a:solidFill>
                            <a:srgbClr val="0D233A"/>
                          </a:solidFill>
                          <a:latin typeface="Aptos"/>
                          <a:ea typeface="Aptos"/>
                          <a:cs typeface="Aptos"/>
                        </a:rPr>
                        <a:t>10,136</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9CDFC33A-F3F5-4402-AFD7-1857E1C1EB68}"/>
              </a:ext>
            </a:extLst>
          </p:cNvPr>
          <p:cNvSpPr>
            <a:spLocks xmlns:a="http://schemas.openxmlformats.org/drawingml/2006/main" noGrp="1"/>
          </p:cNvSpPr>
          <p:nvPr/>
        </p:nvSpPr>
        <p:spPr>
          <a:xfrm xmlns:a="http://schemas.openxmlformats.org/drawingml/2006/main">
            <a:off x="666750" y="8953500"/>
            <a:ext cx="7762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FFFFFF"/>
                </a:solidFill>
                <a:latin typeface="Aptos"/>
                <a:ea typeface="Aptos"/>
                <a:cs typeface="Aptos"/>
              </a:defRPr>
            </a:defPPr>
          </a:lstStyle>
          <a:p xmlns:a="http://schemas.openxmlformats.org/drawingml/2006/main">
            <a:pPr>
              <a:defRPr sz="2175" b="1">
                <a:solidFill>
                  <a:srgbClr val="FFFFFF"/>
                </a:solidFill>
                <a:latin typeface="Aptos"/>
                <a:ea typeface="Aptos"/>
                <a:cs typeface="Aptos"/>
              </a:defRPr>
            </a:pPr>
            <a:r>
              <a:rPr sz="2175" b="1">
                <a:solidFill>
                  <a:srgbClr val="FFFFFF"/>
                </a:solidFill>
                <a:latin typeface="Aptos"/>
                <a:ea typeface="Aptos"/>
                <a:cs typeface="Aptos"/>
              </a:rPr>
              <a:t>Long-term baseline: €6,732/year</a:t>
            </a:r>
          </a:p>
        </p:txBody>
      </p:sp>
      <p:sp>
        <p:nvSpPr>
          <p:cNvPr id="12" name="">
            <a:extLst xmlns:a="http://schemas.openxmlformats.org/drawingml/2006/main">
              <a:ext uri="{FF2B5EF4-FFF2-40B4-BE49-F238E27FC236}">
                <a16:creationId xmlns:a16="http://schemas.microsoft.com/office/drawing/2014/main" id="{5C73A069-265B-416D-B176-BA3406EB67E7}"/>
              </a:ext>
            </a:extLst>
          </p:cNvPr>
          <p:cNvSpPr>
            <a:spLocks xmlns:a="http://schemas.openxmlformats.org/drawingml/2006/main" noGrp="1"/>
          </p:cNvSpPr>
          <p:nvPr/>
        </p:nvSpPr>
        <p:spPr>
          <a:xfrm xmlns:a="http://schemas.openxmlformats.org/drawingml/2006/main">
            <a:off x="666750" y="9572625"/>
            <a:ext cx="7762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DCDD2"/>
                </a:solidFill>
                <a:latin typeface="Aptos"/>
                <a:ea typeface="Aptos"/>
                <a:cs typeface="Aptos"/>
              </a:defRPr>
            </a:defPPr>
          </a:lstStyle>
          <a:p xmlns:a="http://schemas.openxmlformats.org/drawingml/2006/main">
            <a:pPr>
              <a:defRPr sz="1725" b="0">
                <a:solidFill>
                  <a:srgbClr val="ADCDD2"/>
                </a:solidFill>
                <a:latin typeface="Aptos"/>
                <a:ea typeface="Aptos"/>
                <a:cs typeface="Aptos"/>
              </a:defRPr>
            </a:pPr>
            <a:r>
              <a:rPr sz="1725" b="0">
                <a:solidFill>
                  <a:srgbClr val="ADCDD2"/>
                </a:solidFill>
                <a:latin typeface="Aptos"/>
                <a:ea typeface="Aptos"/>
                <a:cs typeface="Aptos"/>
              </a:rPr>
              <a:t>Conditional combinations. Higher prices may reduce bookings.</a:t>
            </a:r>
          </a:p>
        </p:txBody>
      </p:sp>
    </p:spTree>
    <p:extLst>
      <p:ext uri="{BB962C8B-B14F-4D97-AF65-F5344CB8AC3E}">
        <p14:creationId xmlns:p14="http://schemas.microsoft.com/office/powerpoint/2010/main" val="382490717"/>
      </p:ext>
    </p:extLst>
  </p:cSld>
</p:sld>
</file>

<file path=ppt/slides/slide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CC283DB-1E25-4490-BF84-D21CEAFF26A4}"/>
              </a:ext>
            </a:extLst>
          </p:cNvPr>
          <p:cNvSpPr>
            <a:spLocks xmlns:a="http://schemas.openxmlformats.org/drawingml/2006/main" noGrp="1"/>
          </p:cNvSpPr>
          <p:nvPr/>
        </p:nvSpPr>
        <p:spPr>
          <a:xfrm xmlns:a="http://schemas.openxmlformats.org/drawingml/2006/main">
            <a:off x="621792" y="329184"/>
            <a:ext cx="54864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1100" b="1">
                <a:solidFill>
                  <a:srgbClr val="0D233A"/>
                </a:solidFill>
                <a:latin typeface="Aptos"/>
                <a:ea typeface="Aptos"/>
                <a:cs typeface="Aptos"/>
              </a:defRPr>
            </a:defPPr>
          </a:lstStyle>
          <a:p xmlns:a="http://schemas.openxmlformats.org/drawingml/2006/main">
            <a:pPr>
              <a:defRPr sz="1100" b="1">
                <a:solidFill>
                  <a:srgbClr val="0D233A"/>
                </a:solidFill>
                <a:latin typeface="Aptos"/>
                <a:ea typeface="Aptos"/>
                <a:cs typeface="Aptos"/>
              </a:defRPr>
            </a:pPr>
            <a:r>
              <a:rPr sz="1100" b="1">
                <a:solidFill>
                  <a:srgbClr val="0D233A"/>
                </a:solidFill>
                <a:latin typeface="Aptos"/>
                <a:ea typeface="Aptos"/>
                <a:cs typeface="Aptos"/>
                <a:hlinkClick xmlns:r="http://schemas.openxmlformats.org/officeDocument/2006/relationships" r:id="R482f0f520aff425d"/>
              </a:rPr>
              <a:t>PK / PEDRAM KOJOURI / LINKEDIN</a:t>
            </a:r>
          </a:p>
        </p:txBody>
      </p:sp>
      <p:sp>
        <p:nvSpPr>
          <p:cNvPr id="3" name="Text 1">
            <a:extLst xmlns:a="http://schemas.openxmlformats.org/drawingml/2006/main">
              <a:ext uri="{FF2B5EF4-FFF2-40B4-BE49-F238E27FC236}">
                <a16:creationId xmlns:a16="http://schemas.microsoft.com/office/drawing/2014/main" id="{4685CA01-710E-464A-B437-0E5D9F38942F}"/>
              </a:ext>
            </a:extLst>
          </p:cNvPr>
          <p:cNvSpPr>
            <a:spLocks xmlns:a="http://schemas.openxmlformats.org/drawingml/2006/main" noGrp="1"/>
          </p:cNvSpPr>
          <p:nvPr/>
        </p:nvSpPr>
        <p:spPr>
          <a:xfrm xmlns:a="http://schemas.openxmlformats.org/drawingml/2006/main">
            <a:off x="5760720" y="329184"/>
            <a:ext cx="277977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900">
                <a:solidFill>
                  <a:srgbClr val="64798B"/>
                </a:solidFill>
                <a:latin typeface="Aptos"/>
                <a:ea typeface="Aptos"/>
                <a:cs typeface="Aptos"/>
              </a:defRPr>
            </a:defPPr>
          </a:lstStyle>
          <a:p xmlns:a="http://schemas.openxmlformats.org/drawingml/2006/main">
            <a:pPr marL="0" indent="0" algn="r">
              <a:buNone/>
              <a:defRPr sz="900">
                <a:solidFill>
                  <a:srgbClr val="64798B"/>
                </a:solidFill>
                <a:latin typeface="Aptos"/>
                <a:ea typeface="Aptos"/>
                <a:cs typeface="Aptos"/>
              </a:defRPr>
            </a:pPr>
            <a:r>
              <a:rPr sz="900" spc="120">
                <a:solidFill>
                  <a:srgbClr val="64798B"/>
                </a:solidFill>
                <a:latin typeface="Aptos"/>
                <a:ea typeface="Aptos"/>
                <a:cs typeface="Aptos"/>
              </a:rPr>
              <a:t>PREPARATION COSTS</a:t>
            </a:r>
            <a:endParaRPr sz="900"/>
          </a:p>
        </p:txBody>
      </p:sp>
      <p:sp>
        <p:nvSpPr>
          <p:cNvPr id="4" name="Shape 2">
            <a:extLst xmlns:a="http://schemas.openxmlformats.org/drawingml/2006/main">
              <a:ext uri="{FF2B5EF4-FFF2-40B4-BE49-F238E27FC236}">
                <a16:creationId xmlns:a16="http://schemas.microsoft.com/office/drawing/2014/main" id="{D73DA8BE-6619-48F6-B0C2-70C123B6B949}"/>
              </a:ext>
            </a:extLst>
          </p:cNvPr>
          <p:cNvSpPr>
            <a:spLocks xmlns:a="http://schemas.openxmlformats.org/drawingml/2006/main" noGrp="1"/>
          </p:cNvSpPr>
          <p:nvPr/>
        </p:nvSpPr>
        <p:spPr>
          <a:xfrm xmlns:a="http://schemas.openxmlformats.org/drawingml/2006/main">
            <a:off x="621792" y="768096"/>
            <a:ext cx="7900416" cy="0"/>
          </a:xfrm>
          <a:prstGeom xmlns:a="http://schemas.openxmlformats.org/drawingml/2006/main" prst="line">
            <a:avLst/>
          </a:prstGeom>
          <a:noFill xmlns:a="http://schemas.openxmlformats.org/drawingml/2006/main"/>
          <a:ln xmlns:a="http://schemas.openxmlformats.org/drawingml/2006/main" w="12700">
            <a:solidFill>
              <a:srgbClr val="527089"/>
            </a:solidFill>
            <a:prstDash val="solid"/>
          </a:ln>
        </p:spPr>
      </p:sp>
      <p:sp>
        <p:nvSpPr>
          <p:cNvPr id="5" name="Shape 3">
            <a:extLst xmlns:a="http://schemas.openxmlformats.org/drawingml/2006/main">
              <a:ext uri="{FF2B5EF4-FFF2-40B4-BE49-F238E27FC236}">
                <a16:creationId xmlns:a16="http://schemas.microsoft.com/office/drawing/2014/main" id="{1A3707DE-CFA1-41BB-BF4A-37A8B95425BF}"/>
              </a:ext>
            </a:extLst>
          </p:cNvPr>
          <p:cNvSpPr>
            <a:spLocks xmlns:a="http://schemas.openxmlformats.org/drawingml/2006/main" noGrp="1"/>
          </p:cNvSpPr>
          <p:nvPr/>
        </p:nvSpPr>
        <p:spPr>
          <a:xfrm xmlns:a="http://schemas.openxmlformats.org/drawingml/2006/main">
            <a:off x="621792" y="10826496"/>
            <a:ext cx="7900416" cy="0"/>
          </a:xfrm>
          <a:prstGeom xmlns:a="http://schemas.openxmlformats.org/drawingml/2006/main" prst="line">
            <a:avLst/>
          </a:prstGeom>
          <a:noFill xmlns:a="http://schemas.openxmlformats.org/drawingml/2006/main"/>
          <a:ln xmlns:a="http://schemas.openxmlformats.org/drawingml/2006/main" w="12700">
            <a:solidFill>
              <a:srgbClr val="527089"/>
            </a:solidFill>
            <a:prstDash val="solid"/>
          </a:ln>
        </p:spPr>
      </p:sp>
      <p:sp>
        <p:nvSpPr>
          <p:cNvPr id="6" name="Text 4">
            <a:extLst xmlns:a="http://schemas.openxmlformats.org/drawingml/2006/main">
              <a:ext uri="{FF2B5EF4-FFF2-40B4-BE49-F238E27FC236}">
                <a16:creationId xmlns:a16="http://schemas.microsoft.com/office/drawing/2014/main" id="{45FB1A50-F1EA-4CD8-AAB9-3F77BBE50B24}"/>
              </a:ext>
            </a:extLst>
          </p:cNvPr>
          <p:cNvSpPr>
            <a:spLocks xmlns:a="http://schemas.openxmlformats.org/drawingml/2006/main" noGrp="1"/>
          </p:cNvSpPr>
          <p:nvPr/>
        </p:nvSpPr>
        <p:spPr>
          <a:xfrm xmlns:a="http://schemas.openxmlformats.org/drawingml/2006/main">
            <a:off x="621792" y="10981944"/>
            <a:ext cx="694944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800">
                <a:solidFill>
                  <a:srgbClr val="64798B"/>
                </a:solidFill>
                <a:latin typeface="Aptos"/>
                <a:ea typeface="Aptos"/>
                <a:cs typeface="Aptos"/>
              </a:defRPr>
            </a:defPPr>
          </a:lstStyle>
          <a:p xmlns:a="http://schemas.openxmlformats.org/drawingml/2006/main">
            <a:pPr marL="0" indent="0">
              <a:buNone/>
              <a:defRPr sz="800">
                <a:solidFill>
                  <a:srgbClr val="64798B"/>
                </a:solidFill>
                <a:latin typeface="Aptos"/>
                <a:ea typeface="Aptos"/>
                <a:cs typeface="Aptos"/>
              </a:defRPr>
            </a:pPr>
            <a:r>
              <a:rPr sz="800" spc="60">
                <a:solidFill>
                  <a:srgbClr val="64798B"/>
                </a:solidFill>
                <a:latin typeface="Aptos"/>
                <a:ea typeface="Aptos"/>
                <a:cs typeface="Aptos"/>
              </a:rPr>
              <a:t>DATA ANALYTICS  /  ECONOMICS  /  BUSINESS INTELLIGENCE</a:t>
            </a:r>
            <a:endParaRPr sz="800"/>
          </a:p>
        </p:txBody>
      </p:sp>
      <p:sp>
        <p:nvSpPr>
          <p:cNvPr id="7" name="Text 5">
            <a:extLst xmlns:a="http://schemas.openxmlformats.org/drawingml/2006/main">
              <a:ext uri="{FF2B5EF4-FFF2-40B4-BE49-F238E27FC236}">
                <a16:creationId xmlns:a16="http://schemas.microsoft.com/office/drawing/2014/main" id="{B1583540-4AC9-44A7-8F3D-64C65873C0AA}"/>
              </a:ext>
            </a:extLst>
          </p:cNvPr>
          <p:cNvSpPr>
            <a:spLocks xmlns:a="http://schemas.openxmlformats.org/drawingml/2006/main" noGrp="1"/>
          </p:cNvSpPr>
          <p:nvPr/>
        </p:nvSpPr>
        <p:spPr>
          <a:xfrm xmlns:a="http://schemas.openxmlformats.org/drawingml/2006/main">
            <a:off x="7955280" y="10963656"/>
            <a:ext cx="5486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1100" b="1">
                <a:solidFill>
                  <a:srgbClr val="0D233A"/>
                </a:solidFill>
                <a:latin typeface="Aptos"/>
                <a:ea typeface="Aptos"/>
                <a:cs typeface="Aptos"/>
              </a:defRPr>
            </a:defPPr>
          </a:lstStyle>
          <a:p xmlns:a="http://schemas.openxmlformats.org/drawingml/2006/main">
            <a:pPr marL="0" indent="0" algn="r">
              <a:buNone/>
              <a:defRPr sz="1100" b="1">
                <a:solidFill>
                  <a:srgbClr val="0D233A"/>
                </a:solidFill>
                <a:latin typeface="Aptos"/>
                <a:ea typeface="Aptos"/>
                <a:cs typeface="Aptos"/>
              </a:defRPr>
            </a:pPr>
            <a:r>
              <a:rPr sz="1100" b="1">
                <a:solidFill>
                  <a:srgbClr val="0D233A"/>
                </a:solidFill>
                <a:latin typeface="Aptos"/>
                <a:ea typeface="Aptos"/>
                <a:cs typeface="Aptos"/>
              </a:rPr>
              <a:t>07</a:t>
            </a:r>
            <a:endParaRPr sz="1100"/>
          </a:p>
        </p:txBody>
      </p:sp>
      <p:sp>
        <p:nvSpPr>
          <p:cNvPr id="8" name="">
            <a:extLst xmlns:a="http://schemas.openxmlformats.org/drawingml/2006/main">
              <a:ext uri="{FF2B5EF4-FFF2-40B4-BE49-F238E27FC236}">
                <a16:creationId xmlns:a16="http://schemas.microsoft.com/office/drawing/2014/main" id="{0B788B43-4E3C-4257-8773-06DF57E25EAF}"/>
              </a:ext>
            </a:extLst>
          </p:cNvPr>
          <p:cNvSpPr>
            <a:spLocks xmlns:a="http://schemas.openxmlformats.org/drawingml/2006/main" noGrp="1"/>
          </p:cNvSpPr>
          <p:nvPr/>
        </p:nvSpPr>
        <p:spPr>
          <a:xfrm xmlns:a="http://schemas.openxmlformats.org/drawingml/2006/main">
            <a:off x="638175" y="1714500"/>
            <a:ext cx="790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0D233A"/>
                </a:solidFill>
                <a:latin typeface="Aptos"/>
                <a:ea typeface="Aptos"/>
                <a:cs typeface="Aptos"/>
              </a:defRPr>
            </a:defPPr>
          </a:lstStyle>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Conversion raises</a:t>
            </a:r>
          </a:p>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the required bookings</a:t>
            </a:r>
          </a:p>
        </p:txBody>
      </p:sp>
      <p:sp>
        <p:nvSpPr>
          <p:cNvPr id="9" name="">
            <a:extLst xmlns:a="http://schemas.openxmlformats.org/drawingml/2006/main">
              <a:ext uri="{FF2B5EF4-FFF2-40B4-BE49-F238E27FC236}">
                <a16:creationId xmlns:a16="http://schemas.microsoft.com/office/drawing/2014/main" id="{2C2FBC95-46E2-49A9-9AD1-5E186FCF797B}"/>
              </a:ext>
            </a:extLst>
          </p:cNvPr>
          <p:cNvSpPr>
            <a:spLocks xmlns:a="http://schemas.openxmlformats.org/drawingml/2006/main" noGrp="1"/>
          </p:cNvSpPr>
          <p:nvPr/>
        </p:nvSpPr>
        <p:spPr>
          <a:xfrm xmlns:a="http://schemas.openxmlformats.org/drawingml/2006/main">
            <a:off x="666750" y="3619500"/>
            <a:ext cx="7762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C4C74"/>
                </a:solidFill>
                <a:latin typeface="Aptos"/>
                <a:ea typeface="Aptos"/>
                <a:cs typeface="Aptos"/>
              </a:defRPr>
            </a:defPPr>
          </a:lstStyle>
          <a:p xmlns:a="http://schemas.openxmlformats.org/drawingml/2006/main">
            <a:pPr>
              <a:defRPr sz="2175" b="0">
                <a:solidFill>
                  <a:srgbClr val="1C4C74"/>
                </a:solidFill>
                <a:latin typeface="Aptos"/>
                <a:ea typeface="Aptos"/>
                <a:cs typeface="Aptos"/>
              </a:defRPr>
            </a:pPr>
            <a:r>
              <a:rPr sz="2175" b="0">
                <a:solidFill>
                  <a:srgbClr val="1C4C74"/>
                </a:solidFill>
                <a:latin typeface="Aptos"/>
                <a:ea typeface="Aptos"/>
                <a:cs typeface="Aptos"/>
              </a:rPr>
              <a:t>At €115 gross nightly revenue</a:t>
            </a:r>
          </a:p>
        </p:txBody>
      </p:sp>
      <p:graphicFrame>
        <p:nvGraphicFramePr>
          <p:cNvPr id="10" name="Chart">
            <a:extLst xmlns:a="http://schemas.openxmlformats.org/drawingml/2006/main">
              <a:ext uri="{FF2B5EF4-FFF2-40B4-BE49-F238E27FC236}">
                <a16:creationId xmlns:a16="http://schemas.microsoft.com/office/drawing/2014/main" id="{7DBF29CF-B74D-43E2-AED5-1F1E4CB1F4FB}"/>
              </a:ext>
            </a:extLst>
          </p:cNvPr>
          <p:cNvGraphicFramePr/>
          <p:nvPr/>
        </p:nvGraphicFramePr>
        <p:xfrm>
          <a:off xmlns:a="http://schemas.openxmlformats.org/drawingml/2006/main" x="666750" y="4857750"/>
          <a:ext xmlns:a="http://schemas.openxmlformats.org/drawingml/2006/main" cx="7715250" cy="4191000"/>
        </p:xfrm>
        <a:graphic xmlns:a="http://schemas.openxmlformats.org/drawingml/2006/main">
          <a:graphicData uri="http://schemas.openxmlformats.org/drawingml/2006/chart">
            <c:chart xmlns:r="http://schemas.openxmlformats.org/officeDocument/2006/relationships" xmlns:c="http://schemas.openxmlformats.org/drawingml/2006/chart" r:id="Ra2aebaffdc7940c7"/>
          </a:graphicData>
        </a:graphic>
      </p:graphicFrame>
      <p:sp>
        <p:nvSpPr>
          <p:cNvPr id="11" name="">
            <a:extLst xmlns:a="http://schemas.openxmlformats.org/drawingml/2006/main">
              <a:ext uri="{FF2B5EF4-FFF2-40B4-BE49-F238E27FC236}">
                <a16:creationId xmlns:a16="http://schemas.microsoft.com/office/drawing/2014/main" id="{68850A38-3E0F-4FE6-83CD-A25636415226}"/>
              </a:ext>
            </a:extLst>
          </p:cNvPr>
          <p:cNvSpPr>
            <a:spLocks xmlns:a="http://schemas.openxmlformats.org/drawingml/2006/main" noGrp="1"/>
          </p:cNvSpPr>
          <p:nvPr/>
        </p:nvSpPr>
        <p:spPr>
          <a:xfrm xmlns:a="http://schemas.openxmlformats.org/drawingml/2006/main">
            <a:off x="666750" y="10001250"/>
            <a:ext cx="776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64798B"/>
                </a:solidFill>
                <a:latin typeface="Aptos"/>
                <a:ea typeface="Aptos"/>
                <a:cs typeface="Aptos"/>
              </a:defRPr>
            </a:defPPr>
          </a:lstStyle>
          <a:p xmlns:a="http://schemas.openxmlformats.org/drawingml/2006/main">
            <a:pPr>
              <a:defRPr sz="1425" b="0">
                <a:solidFill>
                  <a:srgbClr val="64798B"/>
                </a:solidFill>
                <a:latin typeface="Aptos"/>
                <a:ea typeface="Aptos"/>
                <a:cs typeface="Aptos"/>
              </a:defRPr>
            </a:pPr>
            <a:r>
              <a:rPr sz="1425" b="0">
                <a:solidFill>
                  <a:srgbClr val="64798B"/>
                </a:solidFill>
                <a:latin typeface="Aptos"/>
                <a:ea typeface="Aptos"/>
                <a:cs typeface="Aptos"/>
              </a:rPr>
              <a:t>Source: scenario model. Additional setup cost above the long-term alternative, recovered over five years. Thresholds round upward.</a:t>
            </a:r>
          </a:p>
        </p:txBody>
      </p:sp>
    </p:spTree>
    <p:extLst>
      <p:ext uri="{BB962C8B-B14F-4D97-AF65-F5344CB8AC3E}">
        <p14:creationId xmlns:p14="http://schemas.microsoft.com/office/powerpoint/2010/main" val="1753613421"/>
      </p:ext>
    </p:extLst>
  </p:cSld>
</p:sld>
</file>

<file path=ppt/slides/slide8.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10F80AB-A3F3-45F7-8460-65D5FE9FCAAF}"/>
              </a:ext>
            </a:extLst>
          </p:cNvPr>
          <p:cNvSpPr>
            <a:spLocks xmlns:a="http://schemas.openxmlformats.org/drawingml/2006/main" noGrp="1"/>
          </p:cNvSpPr>
          <p:nvPr/>
        </p:nvSpPr>
        <p:spPr>
          <a:xfrm xmlns:a="http://schemas.openxmlformats.org/drawingml/2006/main">
            <a:off x="621792" y="329184"/>
            <a:ext cx="54864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1100" b="1">
                <a:solidFill>
                  <a:srgbClr val="0D233A"/>
                </a:solidFill>
                <a:latin typeface="Aptos"/>
                <a:ea typeface="Aptos"/>
                <a:cs typeface="Aptos"/>
              </a:defRPr>
            </a:defPPr>
          </a:lstStyle>
          <a:p xmlns:a="http://schemas.openxmlformats.org/drawingml/2006/main">
            <a:pPr>
              <a:defRPr sz="1100" b="1">
                <a:solidFill>
                  <a:srgbClr val="0D233A"/>
                </a:solidFill>
                <a:latin typeface="Aptos"/>
                <a:ea typeface="Aptos"/>
                <a:cs typeface="Aptos"/>
              </a:defRPr>
            </a:pPr>
            <a:r>
              <a:rPr sz="1100" b="1">
                <a:solidFill>
                  <a:srgbClr val="0D233A"/>
                </a:solidFill>
                <a:latin typeface="Aptos"/>
                <a:ea typeface="Aptos"/>
                <a:cs typeface="Aptos"/>
                <a:hlinkClick xmlns:r="http://schemas.openxmlformats.org/officeDocument/2006/relationships" r:id="R3f58359c8bfe48b9"/>
              </a:rPr>
              <a:t>PK / PEDRAM KOJOURI / LINKEDIN</a:t>
            </a:r>
          </a:p>
        </p:txBody>
      </p:sp>
      <p:sp>
        <p:nvSpPr>
          <p:cNvPr id="3" name="Text 1">
            <a:extLst xmlns:a="http://schemas.openxmlformats.org/drawingml/2006/main">
              <a:ext uri="{FF2B5EF4-FFF2-40B4-BE49-F238E27FC236}">
                <a16:creationId xmlns:a16="http://schemas.microsoft.com/office/drawing/2014/main" id="{94F7D007-A925-4150-A5AD-15BE0943E8DC}"/>
              </a:ext>
            </a:extLst>
          </p:cNvPr>
          <p:cNvSpPr>
            <a:spLocks xmlns:a="http://schemas.openxmlformats.org/drawingml/2006/main" noGrp="1"/>
          </p:cNvSpPr>
          <p:nvPr/>
        </p:nvSpPr>
        <p:spPr>
          <a:xfrm xmlns:a="http://schemas.openxmlformats.org/drawingml/2006/main">
            <a:off x="5760720" y="329184"/>
            <a:ext cx="277977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900">
                <a:solidFill>
                  <a:srgbClr val="64798B"/>
                </a:solidFill>
                <a:latin typeface="Aptos"/>
                <a:ea typeface="Aptos"/>
                <a:cs typeface="Aptos"/>
              </a:defRPr>
            </a:defPPr>
          </a:lstStyle>
          <a:p xmlns:a="http://schemas.openxmlformats.org/drawingml/2006/main">
            <a:pPr marL="0" indent="0" algn="r">
              <a:buNone/>
              <a:defRPr sz="900">
                <a:solidFill>
                  <a:srgbClr val="64798B"/>
                </a:solidFill>
                <a:latin typeface="Aptos"/>
                <a:ea typeface="Aptos"/>
                <a:cs typeface="Aptos"/>
              </a:defRPr>
            </a:pPr>
            <a:r>
              <a:rPr sz="900" spc="120">
                <a:solidFill>
                  <a:srgbClr val="64798B"/>
                </a:solidFill>
                <a:latin typeface="Aptos"/>
                <a:ea typeface="Aptos"/>
                <a:cs typeface="Aptos"/>
              </a:rPr>
              <a:t>RESEARCH CHALLENGES</a:t>
            </a:r>
            <a:endParaRPr sz="900"/>
          </a:p>
        </p:txBody>
      </p:sp>
      <p:sp>
        <p:nvSpPr>
          <p:cNvPr id="4" name="Shape 2">
            <a:extLst xmlns:a="http://schemas.openxmlformats.org/drawingml/2006/main">
              <a:ext uri="{FF2B5EF4-FFF2-40B4-BE49-F238E27FC236}">
                <a16:creationId xmlns:a16="http://schemas.microsoft.com/office/drawing/2014/main" id="{3CD0D01E-6BB7-4DB3-AEDA-8AF0FC29CB1F}"/>
              </a:ext>
            </a:extLst>
          </p:cNvPr>
          <p:cNvSpPr>
            <a:spLocks xmlns:a="http://schemas.openxmlformats.org/drawingml/2006/main" noGrp="1"/>
          </p:cNvSpPr>
          <p:nvPr/>
        </p:nvSpPr>
        <p:spPr>
          <a:xfrm xmlns:a="http://schemas.openxmlformats.org/drawingml/2006/main">
            <a:off x="621792" y="7680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5" name="Shape 3">
            <a:extLst xmlns:a="http://schemas.openxmlformats.org/drawingml/2006/main">
              <a:ext uri="{FF2B5EF4-FFF2-40B4-BE49-F238E27FC236}">
                <a16:creationId xmlns:a16="http://schemas.microsoft.com/office/drawing/2014/main" id="{69A71489-BD16-4031-94B6-8C49E26745A1}"/>
              </a:ext>
            </a:extLst>
          </p:cNvPr>
          <p:cNvSpPr>
            <a:spLocks xmlns:a="http://schemas.openxmlformats.org/drawingml/2006/main" noGrp="1"/>
          </p:cNvSpPr>
          <p:nvPr/>
        </p:nvSpPr>
        <p:spPr>
          <a:xfrm xmlns:a="http://schemas.openxmlformats.org/drawingml/2006/main">
            <a:off x="621792" y="108264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6" name="Text 4">
            <a:extLst xmlns:a="http://schemas.openxmlformats.org/drawingml/2006/main">
              <a:ext uri="{FF2B5EF4-FFF2-40B4-BE49-F238E27FC236}">
                <a16:creationId xmlns:a16="http://schemas.microsoft.com/office/drawing/2014/main" id="{BCC98B79-7EEC-42D3-B589-88B2889C5E12}"/>
              </a:ext>
            </a:extLst>
          </p:cNvPr>
          <p:cNvSpPr>
            <a:spLocks xmlns:a="http://schemas.openxmlformats.org/drawingml/2006/main" noGrp="1"/>
          </p:cNvSpPr>
          <p:nvPr/>
        </p:nvSpPr>
        <p:spPr>
          <a:xfrm xmlns:a="http://schemas.openxmlformats.org/drawingml/2006/main">
            <a:off x="621792" y="10981944"/>
            <a:ext cx="694944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800">
                <a:solidFill>
                  <a:srgbClr val="64798B"/>
                </a:solidFill>
                <a:latin typeface="Aptos"/>
                <a:ea typeface="Aptos"/>
                <a:cs typeface="Aptos"/>
              </a:defRPr>
            </a:defPPr>
          </a:lstStyle>
          <a:p xmlns:a="http://schemas.openxmlformats.org/drawingml/2006/main">
            <a:pPr marL="0" indent="0">
              <a:buNone/>
              <a:defRPr sz="800">
                <a:solidFill>
                  <a:srgbClr val="64798B"/>
                </a:solidFill>
                <a:latin typeface="Aptos"/>
                <a:ea typeface="Aptos"/>
                <a:cs typeface="Aptos"/>
              </a:defRPr>
            </a:pPr>
            <a:r>
              <a:rPr sz="800" spc="60">
                <a:solidFill>
                  <a:srgbClr val="64798B"/>
                </a:solidFill>
                <a:latin typeface="Aptos"/>
                <a:ea typeface="Aptos"/>
                <a:cs typeface="Aptos"/>
              </a:rPr>
              <a:t>DATA ANALYTICS  /  ECONOMICS  /  BUSINESS INTELLIGENCE</a:t>
            </a:r>
            <a:endParaRPr sz="800"/>
          </a:p>
        </p:txBody>
      </p:sp>
      <p:sp>
        <p:nvSpPr>
          <p:cNvPr id="7" name="Text 5">
            <a:extLst xmlns:a="http://schemas.openxmlformats.org/drawingml/2006/main">
              <a:ext uri="{FF2B5EF4-FFF2-40B4-BE49-F238E27FC236}">
                <a16:creationId xmlns:a16="http://schemas.microsoft.com/office/drawing/2014/main" id="{3F4D391B-42A8-456D-A197-A902828633F6}"/>
              </a:ext>
            </a:extLst>
          </p:cNvPr>
          <p:cNvSpPr>
            <a:spLocks xmlns:a="http://schemas.openxmlformats.org/drawingml/2006/main" noGrp="1"/>
          </p:cNvSpPr>
          <p:nvPr/>
        </p:nvSpPr>
        <p:spPr>
          <a:xfrm xmlns:a="http://schemas.openxmlformats.org/drawingml/2006/main">
            <a:off x="7955280" y="10963656"/>
            <a:ext cx="5486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1100" b="1">
                <a:solidFill>
                  <a:srgbClr val="0D233A"/>
                </a:solidFill>
                <a:latin typeface="Aptos"/>
                <a:ea typeface="Aptos"/>
                <a:cs typeface="Aptos"/>
              </a:defRPr>
            </a:defPPr>
          </a:lstStyle>
          <a:p xmlns:a="http://schemas.openxmlformats.org/drawingml/2006/main">
            <a:pPr marL="0" indent="0" algn="r">
              <a:buNone/>
              <a:defRPr sz="1100" b="1">
                <a:solidFill>
                  <a:srgbClr val="0D233A"/>
                </a:solidFill>
                <a:latin typeface="Aptos"/>
                <a:ea typeface="Aptos"/>
                <a:cs typeface="Aptos"/>
              </a:defRPr>
            </a:pPr>
            <a:r>
              <a:rPr sz="1100" b="1">
                <a:solidFill>
                  <a:srgbClr val="0D233A"/>
                </a:solidFill>
                <a:latin typeface="Aptos"/>
                <a:ea typeface="Aptos"/>
                <a:cs typeface="Aptos"/>
              </a:rPr>
              <a:t>08</a:t>
            </a:r>
            <a:endParaRPr sz="1100"/>
          </a:p>
        </p:txBody>
      </p:sp>
      <p:sp>
        <p:nvSpPr>
          <p:cNvPr id="8" name="">
            <a:extLst xmlns:a="http://schemas.openxmlformats.org/drawingml/2006/main">
              <a:ext uri="{FF2B5EF4-FFF2-40B4-BE49-F238E27FC236}">
                <a16:creationId xmlns:a16="http://schemas.microsoft.com/office/drawing/2014/main" id="{9278DA84-1B2B-40DB-BD6D-6E0F048B04F3}"/>
              </a:ext>
            </a:extLst>
          </p:cNvPr>
          <p:cNvSpPr>
            <a:spLocks xmlns:a="http://schemas.openxmlformats.org/drawingml/2006/main" noGrp="1"/>
          </p:cNvSpPr>
          <p:nvPr/>
        </p:nvSpPr>
        <p:spPr>
          <a:xfrm xmlns:a="http://schemas.openxmlformats.org/drawingml/2006/main">
            <a:off x="638175" y="1714500"/>
            <a:ext cx="790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0D233A"/>
                </a:solidFill>
                <a:latin typeface="Aptos"/>
                <a:ea typeface="Aptos"/>
                <a:cs typeface="Aptos"/>
              </a:defRPr>
            </a:defPPr>
          </a:lstStyle>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The difficult part</a:t>
            </a:r>
          </a:p>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was comparability</a:t>
            </a:r>
          </a:p>
        </p:txBody>
      </p:sp>
      <p:sp>
        <p:nvSpPr>
          <p:cNvPr id="9" name="">
            <a:extLst xmlns:a="http://schemas.openxmlformats.org/drawingml/2006/main">
              <a:ext uri="{FF2B5EF4-FFF2-40B4-BE49-F238E27FC236}">
                <a16:creationId xmlns:a16="http://schemas.microsoft.com/office/drawing/2014/main" id="{A7F581DA-429E-4365-A608-0E44D9685746}"/>
              </a:ext>
            </a:extLst>
          </p:cNvPr>
          <p:cNvSpPr>
            <a:spLocks xmlns:a="http://schemas.openxmlformats.org/drawingml/2006/main" noGrp="1"/>
          </p:cNvSpPr>
          <p:nvPr/>
        </p:nvSpPr>
        <p:spPr>
          <a:xfrm xmlns:a="http://schemas.openxmlformats.org/drawingml/2006/main">
            <a:off x="666750" y="3619500"/>
            <a:ext cx="7762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C4C74"/>
                </a:solidFill>
                <a:latin typeface="Aptos"/>
                <a:ea typeface="Aptos"/>
                <a:cs typeface="Aptos"/>
              </a:defRPr>
            </a:defPPr>
          </a:lstStyle>
          <a:p xmlns:a="http://schemas.openxmlformats.org/drawingml/2006/main">
            <a:pPr>
              <a:defRPr sz="2175" b="0">
                <a:solidFill>
                  <a:srgbClr val="1C4C74"/>
                </a:solidFill>
                <a:latin typeface="Aptos"/>
                <a:ea typeface="Aptos"/>
                <a:cs typeface="Aptos"/>
              </a:defRPr>
            </a:pPr>
            <a:r>
              <a:rPr sz="2175" b="0">
                <a:solidFill>
                  <a:srgbClr val="1C4C74"/>
                </a:solidFill>
                <a:latin typeface="Aptos"/>
                <a:ea typeface="Aptos"/>
                <a:cs typeface="Aptos"/>
              </a:rPr>
              <a:t>Data validation and assumptions determine how much we can conclude.</a:t>
            </a:r>
          </a:p>
        </p:txBody>
      </p:sp>
      <p:sp>
        <p:nvSpPr>
          <p:cNvPr id="10" name="">
            <a:extLst xmlns:a="http://schemas.openxmlformats.org/drawingml/2006/main">
              <a:ext uri="{FF2B5EF4-FFF2-40B4-BE49-F238E27FC236}">
                <a16:creationId xmlns:a16="http://schemas.microsoft.com/office/drawing/2014/main" id="{AAE06BCC-BACA-4A42-A57E-80091ACFD1E3}"/>
              </a:ext>
            </a:extLst>
          </p:cNvPr>
          <p:cNvSpPr>
            <a:spLocks xmlns:a="http://schemas.openxmlformats.org/drawingml/2006/main" noGrp="1"/>
          </p:cNvSpPr>
          <p:nvPr/>
        </p:nvSpPr>
        <p:spPr>
          <a:xfrm xmlns:a="http://schemas.openxmlformats.org/drawingml/2006/main">
            <a:off x="666750" y="5238750"/>
            <a:ext cx="776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32B8B2"/>
                </a:solidFill>
                <a:latin typeface="Aptos"/>
                <a:ea typeface="Aptos"/>
                <a:cs typeface="Aptos"/>
              </a:defRPr>
            </a:defPPr>
          </a:lstStyle>
          <a:p xmlns:a="http://schemas.openxmlformats.org/drawingml/2006/main">
            <a:pPr>
              <a:defRPr sz="3450" b="1">
                <a:solidFill>
                  <a:srgbClr val="32B8B2"/>
                </a:solidFill>
                <a:latin typeface="Aptos"/>
                <a:ea typeface="Aptos"/>
                <a:cs typeface="Aptos"/>
              </a:defRPr>
            </a:pPr>
            <a:r>
              <a:rPr sz="3450" b="1">
                <a:solidFill>
                  <a:srgbClr val="32B8B2"/>
                </a:solidFill>
                <a:latin typeface="Aptos"/>
                <a:ea typeface="Aptos"/>
                <a:cs typeface="Aptos"/>
              </a:rPr>
              <a:t>27 guest nights</a:t>
            </a:r>
          </a:p>
        </p:txBody>
      </p:sp>
      <p:sp>
        <p:nvSpPr>
          <p:cNvPr id="11" name="">
            <a:extLst xmlns:a="http://schemas.openxmlformats.org/drawingml/2006/main">
              <a:ext uri="{FF2B5EF4-FFF2-40B4-BE49-F238E27FC236}">
                <a16:creationId xmlns:a16="http://schemas.microsoft.com/office/drawing/2014/main" id="{7DC4D819-21E9-4BD3-BD13-526675E3F42D}"/>
              </a:ext>
            </a:extLst>
          </p:cNvPr>
          <p:cNvSpPr>
            <a:spLocks xmlns:a="http://schemas.openxmlformats.org/drawingml/2006/main" noGrp="1"/>
          </p:cNvSpPr>
          <p:nvPr/>
        </p:nvSpPr>
        <p:spPr>
          <a:xfrm xmlns:a="http://schemas.openxmlformats.org/drawingml/2006/main">
            <a:off x="666750" y="6096000"/>
            <a:ext cx="77628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C4C74"/>
                </a:solidFill>
                <a:latin typeface="Aptos"/>
                <a:ea typeface="Aptos"/>
                <a:cs typeface="Aptos"/>
              </a:defRPr>
            </a:defPPr>
          </a:lstStyle>
          <a:p xmlns:a="http://schemas.openxmlformats.org/drawingml/2006/main">
            <a:pPr>
              <a:defRPr sz="2175" b="0">
                <a:solidFill>
                  <a:srgbClr val="1C4C74"/>
                </a:solidFill>
                <a:latin typeface="Aptos"/>
                <a:ea typeface="Aptos"/>
                <a:cs typeface="Aptos"/>
              </a:defRPr>
            </a:pPr>
            <a:r>
              <a:rPr sz="2175" b="0">
                <a:solidFill>
                  <a:srgbClr val="1C4C74"/>
                </a:solidFill>
                <a:latin typeface="Aptos"/>
                <a:ea typeface="Aptos"/>
                <a:cs typeface="Aptos"/>
              </a:rPr>
              <a:t>October discrepancy between two official 2024 releases. Kept visible instead of silently pooled.</a:t>
            </a:r>
          </a:p>
        </p:txBody>
      </p:sp>
      <p:sp>
        <p:nvSpPr>
          <p:cNvPr id="12" name="">
            <a:extLst xmlns:a="http://schemas.openxmlformats.org/drawingml/2006/main">
              <a:ext uri="{FF2B5EF4-FFF2-40B4-BE49-F238E27FC236}">
                <a16:creationId xmlns:a16="http://schemas.microsoft.com/office/drawing/2014/main" id="{10A4CAAC-333B-45BB-89B0-DFB4C39F5CC1}"/>
              </a:ext>
            </a:extLst>
          </p:cNvPr>
          <p:cNvSpPr>
            <a:spLocks xmlns:a="http://schemas.openxmlformats.org/drawingml/2006/main" noGrp="1"/>
          </p:cNvSpPr>
          <p:nvPr/>
        </p:nvSpPr>
        <p:spPr>
          <a:xfrm xmlns:a="http://schemas.openxmlformats.org/drawingml/2006/main">
            <a:off x="666750" y="7810500"/>
            <a:ext cx="7762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0D233A"/>
                </a:solidFill>
                <a:latin typeface="Aptos"/>
                <a:ea typeface="Aptos"/>
                <a:cs typeface="Aptos"/>
              </a:defRPr>
            </a:defPPr>
          </a:lstStyle>
          <a:p xmlns:a="http://schemas.openxmlformats.org/drawingml/2006/main">
            <a:pPr>
              <a:defRPr sz="2850" b="1">
                <a:solidFill>
                  <a:srgbClr val="0D233A"/>
                </a:solidFill>
                <a:latin typeface="Aptos"/>
                <a:ea typeface="Aptos"/>
                <a:cs typeface="Aptos"/>
              </a:defRPr>
            </a:pPr>
            <a:r>
              <a:rPr sz="2850" b="1">
                <a:solidFill>
                  <a:srgbClr val="0D233A"/>
                </a:solidFill>
                <a:latin typeface="Aptos"/>
                <a:ea typeface="Aptos"/>
                <a:cs typeface="Aptos"/>
              </a:rPr>
              <a:t>21 records, 4 missing prices</a:t>
            </a:r>
          </a:p>
        </p:txBody>
      </p:sp>
      <p:sp>
        <p:nvSpPr>
          <p:cNvPr id="13" name="">
            <a:extLst xmlns:a="http://schemas.openxmlformats.org/drawingml/2006/main">
              <a:ext uri="{FF2B5EF4-FFF2-40B4-BE49-F238E27FC236}">
                <a16:creationId xmlns:a16="http://schemas.microsoft.com/office/drawing/2014/main" id="{B0E2A9EF-DB21-446C-AB29-8715C9454712}"/>
              </a:ext>
            </a:extLst>
          </p:cNvPr>
          <p:cNvSpPr>
            <a:spLocks xmlns:a="http://schemas.openxmlformats.org/drawingml/2006/main" noGrp="1"/>
          </p:cNvSpPr>
          <p:nvPr/>
        </p:nvSpPr>
        <p:spPr>
          <a:xfrm xmlns:a="http://schemas.openxmlformats.org/drawingml/2006/main">
            <a:off x="666750" y="8763000"/>
            <a:ext cx="7762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C4C74"/>
                </a:solidFill>
                <a:latin typeface="Aptos"/>
                <a:ea typeface="Aptos"/>
                <a:cs typeface="Aptos"/>
              </a:defRPr>
            </a:defPPr>
          </a:lstStyle>
          <a:p xmlns:a="http://schemas.openxmlformats.org/drawingml/2006/main">
            <a:pPr>
              <a:defRPr sz="2175" b="0">
                <a:solidFill>
                  <a:srgbClr val="1C4C74"/>
                </a:solidFill>
                <a:latin typeface="Aptos"/>
                <a:ea typeface="Aptos"/>
                <a:cs typeface="Aptos"/>
              </a:defRPr>
            </a:pPr>
            <a:r>
              <a:rPr sz="2175" b="0">
                <a:solidFill>
                  <a:srgbClr val="1C4C74"/>
                </a:solidFill>
                <a:latin typeface="Aptos"/>
                <a:ea typeface="Aptos"/>
                <a:cs typeface="Aptos"/>
              </a:rPr>
              <a:t>17 numeric rents average €1,014.12. Mixed areas and contracts do not verify a city-centre residential mean.</a:t>
            </a:r>
          </a:p>
        </p:txBody>
      </p:sp>
      <p:sp>
        <p:nvSpPr>
          <p:cNvPr id="14" name="">
            <a:extLst xmlns:a="http://schemas.openxmlformats.org/drawingml/2006/main">
              <a:ext uri="{FF2B5EF4-FFF2-40B4-BE49-F238E27FC236}">
                <a16:creationId xmlns:a16="http://schemas.microsoft.com/office/drawing/2014/main" id="{493EF35C-3053-4163-A3D5-4CAFF2975816}"/>
              </a:ext>
            </a:extLst>
          </p:cNvPr>
          <p:cNvSpPr>
            <a:spLocks xmlns:a="http://schemas.openxmlformats.org/drawingml/2006/main" noGrp="1"/>
          </p:cNvSpPr>
          <p:nvPr/>
        </p:nvSpPr>
        <p:spPr>
          <a:xfrm xmlns:a="http://schemas.openxmlformats.org/drawingml/2006/main">
            <a:off x="666750" y="10001250"/>
            <a:ext cx="776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64798B"/>
                </a:solidFill>
                <a:latin typeface="Aptos"/>
                <a:ea typeface="Aptos"/>
                <a:cs typeface="Aptos"/>
              </a:defRPr>
            </a:defPPr>
          </a:lstStyle>
          <a:p xmlns:a="http://schemas.openxmlformats.org/drawingml/2006/main">
            <a:pPr>
              <a:defRPr sz="1425" b="0">
                <a:solidFill>
                  <a:srgbClr val="64798B"/>
                </a:solidFill>
                <a:latin typeface="Aptos"/>
                <a:ea typeface="Aptos"/>
                <a:cs typeface="Aptos"/>
              </a:defRPr>
            </a:pPr>
            <a:r>
              <a:rPr sz="1425" b="0">
                <a:solidFill>
                  <a:srgbClr val="64798B"/>
                </a:solidFill>
                <a:latin typeface="Aptos"/>
                <a:ea typeface="Aptos"/>
                <a:cs typeface="Aptos"/>
              </a:rPr>
              <a:t>Skills demonstrated: source reconciliation, time-series joining, financial modelling and sensitivity analysis.</a:t>
            </a:r>
          </a:p>
        </p:txBody>
      </p:sp>
    </p:spTree>
    <p:extLst>
      <p:ext uri="{BB962C8B-B14F-4D97-AF65-F5344CB8AC3E}">
        <p14:creationId xmlns:p14="http://schemas.microsoft.com/office/powerpoint/2010/main" val="2095727108"/>
      </p:ext>
    </p:extLst>
  </p:cSld>
</p:sld>
</file>

<file path=ppt/slides/slide9.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7897BBC-4EE1-4162-9F6A-A16238A4DB7B}"/>
              </a:ext>
            </a:extLst>
          </p:cNvPr>
          <p:cNvSpPr>
            <a:spLocks xmlns:a="http://schemas.openxmlformats.org/drawingml/2006/main" noGrp="1"/>
          </p:cNvSpPr>
          <p:nvPr/>
        </p:nvSpPr>
        <p:spPr>
          <a:xfrm xmlns:a="http://schemas.openxmlformats.org/drawingml/2006/main">
            <a:off x="621792" y="329184"/>
            <a:ext cx="54864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1100" b="1">
                <a:solidFill>
                  <a:srgbClr val="0D233A"/>
                </a:solidFill>
                <a:latin typeface="Aptos"/>
                <a:ea typeface="Aptos"/>
                <a:cs typeface="Aptos"/>
              </a:defRPr>
            </a:defPPr>
          </a:lstStyle>
          <a:p xmlns:a="http://schemas.openxmlformats.org/drawingml/2006/main">
            <a:pPr>
              <a:defRPr sz="1100" b="1">
                <a:solidFill>
                  <a:srgbClr val="0D233A"/>
                </a:solidFill>
                <a:latin typeface="Aptos"/>
                <a:ea typeface="Aptos"/>
                <a:cs typeface="Aptos"/>
              </a:defRPr>
            </a:pPr>
            <a:r>
              <a:rPr sz="1100" b="1">
                <a:solidFill>
                  <a:srgbClr val="0D233A"/>
                </a:solidFill>
                <a:latin typeface="Aptos"/>
                <a:ea typeface="Aptos"/>
                <a:cs typeface="Aptos"/>
                <a:hlinkClick xmlns:r="http://schemas.openxmlformats.org/officeDocument/2006/relationships" r:id="Rc0da318bfdc14087"/>
              </a:rPr>
              <a:t>PK / PEDRAM KOJOURI / LINKEDIN</a:t>
            </a:r>
          </a:p>
        </p:txBody>
      </p:sp>
      <p:sp>
        <p:nvSpPr>
          <p:cNvPr id="3" name="Text 1">
            <a:extLst xmlns:a="http://schemas.openxmlformats.org/drawingml/2006/main">
              <a:ext uri="{FF2B5EF4-FFF2-40B4-BE49-F238E27FC236}">
                <a16:creationId xmlns:a16="http://schemas.microsoft.com/office/drawing/2014/main" id="{0242133D-82B6-4060-BD0D-F71F827519EC}"/>
              </a:ext>
            </a:extLst>
          </p:cNvPr>
          <p:cNvSpPr>
            <a:spLocks xmlns:a="http://schemas.openxmlformats.org/drawingml/2006/main" noGrp="1"/>
          </p:cNvSpPr>
          <p:nvPr/>
        </p:nvSpPr>
        <p:spPr>
          <a:xfrm xmlns:a="http://schemas.openxmlformats.org/drawingml/2006/main">
            <a:off x="5760720" y="329184"/>
            <a:ext cx="277977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900">
                <a:solidFill>
                  <a:srgbClr val="64798B"/>
                </a:solidFill>
                <a:latin typeface="Aptos"/>
                <a:ea typeface="Aptos"/>
                <a:cs typeface="Aptos"/>
              </a:defRPr>
            </a:defPPr>
          </a:lstStyle>
          <a:p xmlns:a="http://schemas.openxmlformats.org/drawingml/2006/main">
            <a:pPr marL="0" indent="0" algn="r">
              <a:buNone/>
              <a:defRPr sz="900">
                <a:solidFill>
                  <a:srgbClr val="64798B"/>
                </a:solidFill>
                <a:latin typeface="Aptos"/>
                <a:ea typeface="Aptos"/>
                <a:cs typeface="Aptos"/>
              </a:defRPr>
            </a:pPr>
            <a:r>
              <a:rPr sz="900" spc="120">
                <a:solidFill>
                  <a:srgbClr val="64798B"/>
                </a:solidFill>
                <a:latin typeface="Aptos"/>
                <a:ea typeface="Aptos"/>
                <a:cs typeface="Aptos"/>
              </a:rPr>
              <a:t>FULL PROJECT AND CONTACT</a:t>
            </a:r>
            <a:endParaRPr sz="900"/>
          </a:p>
        </p:txBody>
      </p:sp>
      <p:sp>
        <p:nvSpPr>
          <p:cNvPr id="4" name="Shape 2">
            <a:extLst xmlns:a="http://schemas.openxmlformats.org/drawingml/2006/main">
              <a:ext uri="{FF2B5EF4-FFF2-40B4-BE49-F238E27FC236}">
                <a16:creationId xmlns:a16="http://schemas.microsoft.com/office/drawing/2014/main" id="{87EB8A9B-DD33-41BB-B5AB-A39A78A2C11F}"/>
              </a:ext>
            </a:extLst>
          </p:cNvPr>
          <p:cNvSpPr>
            <a:spLocks xmlns:a="http://schemas.openxmlformats.org/drawingml/2006/main" noGrp="1"/>
          </p:cNvSpPr>
          <p:nvPr/>
        </p:nvSpPr>
        <p:spPr>
          <a:xfrm xmlns:a="http://schemas.openxmlformats.org/drawingml/2006/main">
            <a:off x="621792" y="7680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5" name="Shape 3">
            <a:extLst xmlns:a="http://schemas.openxmlformats.org/drawingml/2006/main">
              <a:ext uri="{FF2B5EF4-FFF2-40B4-BE49-F238E27FC236}">
                <a16:creationId xmlns:a16="http://schemas.microsoft.com/office/drawing/2014/main" id="{0D626D00-14CD-4776-BFC6-80F899654F46}"/>
              </a:ext>
            </a:extLst>
          </p:cNvPr>
          <p:cNvSpPr>
            <a:spLocks xmlns:a="http://schemas.openxmlformats.org/drawingml/2006/main" noGrp="1"/>
          </p:cNvSpPr>
          <p:nvPr/>
        </p:nvSpPr>
        <p:spPr>
          <a:xfrm xmlns:a="http://schemas.openxmlformats.org/drawingml/2006/main">
            <a:off x="621792" y="10826496"/>
            <a:ext cx="7900416" cy="0"/>
          </a:xfrm>
          <a:prstGeom xmlns:a="http://schemas.openxmlformats.org/drawingml/2006/main" prst="line">
            <a:avLst/>
          </a:prstGeom>
          <a:noFill xmlns:a="http://schemas.openxmlformats.org/drawingml/2006/main"/>
          <a:ln xmlns:a="http://schemas.openxmlformats.org/drawingml/2006/main" w="12700">
            <a:solidFill>
              <a:srgbClr val="DBE5EA"/>
            </a:solidFill>
            <a:prstDash val="solid"/>
          </a:ln>
        </p:spPr>
      </p:sp>
      <p:sp>
        <p:nvSpPr>
          <p:cNvPr id="6" name="Text 4">
            <a:extLst xmlns:a="http://schemas.openxmlformats.org/drawingml/2006/main">
              <a:ext uri="{FF2B5EF4-FFF2-40B4-BE49-F238E27FC236}">
                <a16:creationId xmlns:a16="http://schemas.microsoft.com/office/drawing/2014/main" id="{EF813B17-49C7-42D3-B3EF-4268BFC1E1D3}"/>
              </a:ext>
            </a:extLst>
          </p:cNvPr>
          <p:cNvSpPr>
            <a:spLocks xmlns:a="http://schemas.openxmlformats.org/drawingml/2006/main" noGrp="1"/>
          </p:cNvSpPr>
          <p:nvPr/>
        </p:nvSpPr>
        <p:spPr>
          <a:xfrm xmlns:a="http://schemas.openxmlformats.org/drawingml/2006/main">
            <a:off x="621792" y="10981944"/>
            <a:ext cx="694944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defRPr sz="800">
                <a:solidFill>
                  <a:srgbClr val="64798B"/>
                </a:solidFill>
                <a:latin typeface="Aptos"/>
                <a:ea typeface="Aptos"/>
                <a:cs typeface="Aptos"/>
              </a:defRPr>
            </a:defPPr>
          </a:lstStyle>
          <a:p xmlns:a="http://schemas.openxmlformats.org/drawingml/2006/main">
            <a:pPr marL="0" indent="0">
              <a:buNone/>
              <a:defRPr sz="800">
                <a:solidFill>
                  <a:srgbClr val="64798B"/>
                </a:solidFill>
                <a:latin typeface="Aptos"/>
                <a:ea typeface="Aptos"/>
                <a:cs typeface="Aptos"/>
              </a:defRPr>
            </a:pPr>
            <a:r>
              <a:rPr sz="800" spc="60">
                <a:solidFill>
                  <a:srgbClr val="64798B"/>
                </a:solidFill>
                <a:latin typeface="Aptos"/>
                <a:ea typeface="Aptos"/>
                <a:cs typeface="Aptos"/>
              </a:rPr>
              <a:t>DATA ANALYTICS  /  ECONOMICS  /  BUSINESS INTELLIGENCE</a:t>
            </a:r>
            <a:endParaRPr sz="800"/>
          </a:p>
        </p:txBody>
      </p:sp>
      <p:sp>
        <p:nvSpPr>
          <p:cNvPr id="7" name="Text 5">
            <a:extLst xmlns:a="http://schemas.openxmlformats.org/drawingml/2006/main">
              <a:ext uri="{FF2B5EF4-FFF2-40B4-BE49-F238E27FC236}">
                <a16:creationId xmlns:a16="http://schemas.microsoft.com/office/drawing/2014/main" id="{A3CAE5B2-4A69-4159-91C8-6FBA069EF686}"/>
              </a:ext>
            </a:extLst>
          </p:cNvPr>
          <p:cNvSpPr>
            <a:spLocks xmlns:a="http://schemas.openxmlformats.org/drawingml/2006/main" noGrp="1"/>
          </p:cNvSpPr>
          <p:nvPr/>
        </p:nvSpPr>
        <p:spPr>
          <a:xfrm xmlns:a="http://schemas.openxmlformats.org/drawingml/2006/main">
            <a:off x="7955280" y="10963656"/>
            <a:ext cx="5486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defPPr algn="r">
              <a:defRPr sz="1100" b="1">
                <a:solidFill>
                  <a:srgbClr val="0D233A"/>
                </a:solidFill>
                <a:latin typeface="Aptos"/>
                <a:ea typeface="Aptos"/>
                <a:cs typeface="Aptos"/>
              </a:defRPr>
            </a:defPPr>
          </a:lstStyle>
          <a:p xmlns:a="http://schemas.openxmlformats.org/drawingml/2006/main">
            <a:pPr marL="0" indent="0" algn="r">
              <a:buNone/>
              <a:defRPr sz="1100" b="1">
                <a:solidFill>
                  <a:srgbClr val="0D233A"/>
                </a:solidFill>
                <a:latin typeface="Aptos"/>
                <a:ea typeface="Aptos"/>
                <a:cs typeface="Aptos"/>
              </a:defRPr>
            </a:pPr>
            <a:r>
              <a:rPr sz="1100" b="1">
                <a:solidFill>
                  <a:srgbClr val="0D233A"/>
                </a:solidFill>
                <a:latin typeface="Aptos"/>
                <a:ea typeface="Aptos"/>
                <a:cs typeface="Aptos"/>
              </a:rPr>
              <a:t>09</a:t>
            </a:r>
            <a:endParaRPr sz="1100"/>
          </a:p>
        </p:txBody>
      </p:sp>
      <p:sp>
        <p:nvSpPr>
          <p:cNvPr id="8" name="">
            <a:extLst xmlns:a="http://schemas.openxmlformats.org/drawingml/2006/main">
              <a:ext uri="{FF2B5EF4-FFF2-40B4-BE49-F238E27FC236}">
                <a16:creationId xmlns:a16="http://schemas.microsoft.com/office/drawing/2014/main" id="{1B748B58-C494-4A14-AF63-4C20627D0538}"/>
              </a:ext>
            </a:extLst>
          </p:cNvPr>
          <p:cNvSpPr>
            <a:spLocks xmlns:a="http://schemas.openxmlformats.org/drawingml/2006/main" noGrp="1"/>
          </p:cNvSpPr>
          <p:nvPr/>
        </p:nvSpPr>
        <p:spPr>
          <a:xfrm xmlns:a="http://schemas.openxmlformats.org/drawingml/2006/main">
            <a:off x="638175" y="1714500"/>
            <a:ext cx="790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0D233A"/>
                </a:solidFill>
                <a:latin typeface="Aptos"/>
                <a:ea typeface="Aptos"/>
                <a:cs typeface="Aptos"/>
              </a:defRPr>
            </a:defPPr>
          </a:lstStyle>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A conditional</a:t>
            </a:r>
          </a:p>
          <a:p xmlns:a="http://schemas.openxmlformats.org/drawingml/2006/main">
            <a:pPr>
              <a:defRPr sz="4200" b="1">
                <a:solidFill>
                  <a:srgbClr val="0D233A"/>
                </a:solidFill>
                <a:latin typeface="Aptos"/>
                <a:ea typeface="Aptos"/>
                <a:cs typeface="Aptos"/>
              </a:defRPr>
            </a:pPr>
            <a:r>
              <a:rPr sz="4200" b="1">
                <a:solidFill>
                  <a:srgbClr val="0D233A"/>
                </a:solidFill>
                <a:latin typeface="Aptos"/>
                <a:ea typeface="Aptos"/>
                <a:cs typeface="Aptos"/>
              </a:rPr>
              <a:t>business opportunity</a:t>
            </a:r>
          </a:p>
        </p:txBody>
      </p:sp>
      <p:sp>
        <p:nvSpPr>
          <p:cNvPr id="9" name="">
            <a:extLst xmlns:a="http://schemas.openxmlformats.org/drawingml/2006/main">
              <a:ext uri="{FF2B5EF4-FFF2-40B4-BE49-F238E27FC236}">
                <a16:creationId xmlns:a16="http://schemas.microsoft.com/office/drawing/2014/main" id="{EB4B5C65-BA10-49E2-8586-9A35711BAB66}"/>
              </a:ext>
            </a:extLst>
          </p:cNvPr>
          <p:cNvSpPr>
            <a:spLocks xmlns:a="http://schemas.openxmlformats.org/drawingml/2006/main" noGrp="1"/>
          </p:cNvSpPr>
          <p:nvPr/>
        </p:nvSpPr>
        <p:spPr>
          <a:xfrm xmlns:a="http://schemas.openxmlformats.org/drawingml/2006/main">
            <a:off x="666750" y="3619500"/>
            <a:ext cx="7762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C4C74"/>
                </a:solidFill>
                <a:latin typeface="Aptos"/>
                <a:ea typeface="Aptos"/>
                <a:cs typeface="Aptos"/>
              </a:defRPr>
            </a:defPPr>
          </a:lstStyle>
          <a:p xmlns:a="http://schemas.openxmlformats.org/drawingml/2006/main">
            <a:pPr>
              <a:defRPr sz="2175" b="0">
                <a:solidFill>
                  <a:srgbClr val="1C4C74"/>
                </a:solidFill>
                <a:latin typeface="Aptos"/>
                <a:ea typeface="Aptos"/>
                <a:cs typeface="Aptos"/>
              </a:defRPr>
            </a:pPr>
            <a:r>
              <a:rPr sz="2175" b="0">
                <a:solidFill>
                  <a:srgbClr val="1C4C74"/>
                </a:solidFill>
                <a:latin typeface="Aptos"/>
                <a:ea typeface="Aptos"/>
                <a:cs typeface="Aptos"/>
              </a:rPr>
              <a:t>The evidence supports testing the economics of the same property before conversion.</a:t>
            </a:r>
          </a:p>
        </p:txBody>
      </p:sp>
      <p:sp>
        <p:nvSpPr>
          <p:cNvPr id="10" name="">
            <a:extLst xmlns:a="http://schemas.openxmlformats.org/drawingml/2006/main">
              <a:ext uri="{FF2B5EF4-FFF2-40B4-BE49-F238E27FC236}">
                <a16:creationId xmlns:a16="http://schemas.microsoft.com/office/drawing/2014/main" id="{AE750033-C24E-4A8D-A730-4B01911E4DC9}"/>
              </a:ext>
            </a:extLst>
          </p:cNvPr>
          <p:cNvSpPr>
            <a:spLocks xmlns:a="http://schemas.openxmlformats.org/drawingml/2006/main" noGrp="1"/>
          </p:cNvSpPr>
          <p:nvPr/>
        </p:nvSpPr>
        <p:spPr>
          <a:xfrm xmlns:a="http://schemas.openxmlformats.org/drawingml/2006/main">
            <a:off x="666750" y="5238750"/>
            <a:ext cx="77628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1C4C74"/>
                </a:solidFill>
                <a:latin typeface="Aptos"/>
                <a:ea typeface="Aptos"/>
                <a:cs typeface="Aptos"/>
              </a:defRPr>
            </a:defPPr>
          </a:lstStyle>
          <a:p xmlns:a="http://schemas.openxmlformats.org/drawingml/2006/main">
            <a:pPr>
              <a:defRPr sz="2700" b="1">
                <a:solidFill>
                  <a:srgbClr val="1C4C74"/>
                </a:solidFill>
                <a:latin typeface="Aptos"/>
                <a:ea typeface="Aptos"/>
                <a:cs typeface="Aptos"/>
              </a:defRPr>
            </a:pPr>
            <a:r>
              <a:rPr sz="2700" b="1">
                <a:solidFill>
                  <a:srgbClr val="1C4C74"/>
                </a:solidFill>
                <a:latin typeface="Aptos"/>
                <a:ea typeface="Aptos"/>
                <a:cs typeface="Aptos"/>
              </a:rPr>
              <a:t>Growth creates demand.</a:t>
            </a:r>
          </a:p>
          <a:p xmlns:a="http://schemas.openxmlformats.org/drawingml/2006/main">
            <a:pPr>
              <a:defRPr sz="2700" b="1">
                <a:solidFill>
                  <a:srgbClr val="1C4C74"/>
                </a:solidFill>
                <a:latin typeface="Aptos"/>
                <a:ea typeface="Aptos"/>
                <a:cs typeface="Aptos"/>
              </a:defRPr>
            </a:pPr>
            <a:r>
              <a:rPr sz="2700" b="1">
                <a:solidFill>
                  <a:srgbClr val="1C4C74"/>
                </a:solidFill>
                <a:latin typeface="Aptos"/>
                <a:ea typeface="Aptos"/>
                <a:cs typeface="Aptos"/>
              </a:rPr>
              <a:t>Costs and alternatives determine retained cash.</a:t>
            </a:r>
          </a:p>
        </p:txBody>
      </p:sp>
      <p:sp>
        <p:nvSpPr>
          <p:cNvPr id="11" name="">
            <a:extLst xmlns:a="http://schemas.openxmlformats.org/drawingml/2006/main">
              <a:ext uri="{FF2B5EF4-FFF2-40B4-BE49-F238E27FC236}">
                <a16:creationId xmlns:a16="http://schemas.microsoft.com/office/drawing/2014/main" id="{823CA5DB-354B-4AA2-9D41-8FBCC5C9178F}"/>
              </a:ext>
            </a:extLst>
          </p:cNvPr>
          <p:cNvSpPr>
            <a:spLocks xmlns:a="http://schemas.openxmlformats.org/drawingml/2006/main" noGrp="1"/>
          </p:cNvSpPr>
          <p:nvPr/>
        </p:nvSpPr>
        <p:spPr>
          <a:xfrm xmlns:a="http://schemas.openxmlformats.org/drawingml/2006/main">
            <a:off x="666750" y="7810500"/>
            <a:ext cx="7762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64798B"/>
                </a:solidFill>
                <a:latin typeface="Aptos"/>
                <a:ea typeface="Aptos"/>
                <a:cs typeface="Aptos"/>
              </a:defRPr>
            </a:defPPr>
          </a:lstStyle>
          <a:p xmlns:a="http://schemas.openxmlformats.org/drawingml/2006/main">
            <a:pPr>
              <a:defRPr sz="1725" b="1">
                <a:solidFill>
                  <a:srgbClr val="64798B"/>
                </a:solidFill>
                <a:latin typeface="Aptos"/>
                <a:ea typeface="Aptos"/>
                <a:cs typeface="Aptos"/>
              </a:defRPr>
            </a:pPr>
            <a:r>
              <a:rPr sz="1725" b="1">
                <a:solidFill>
                  <a:srgbClr val="64798B"/>
                </a:solidFill>
                <a:latin typeface="Aptos"/>
                <a:ea typeface="Aptos"/>
                <a:cs typeface="Aptos"/>
              </a:rPr>
              <a:t>REPORT, DATA AND PYTHON CODE</a:t>
            </a:r>
          </a:p>
        </p:txBody>
      </p:sp>
      <p:sp>
        <p:nvSpPr>
          <p:cNvPr id="12" name="">
            <a:extLst xmlns:a="http://schemas.openxmlformats.org/drawingml/2006/main">
              <a:ext uri="{FF2B5EF4-FFF2-40B4-BE49-F238E27FC236}">
                <a16:creationId xmlns:a16="http://schemas.microsoft.com/office/drawing/2014/main" id="{7475CB15-A5D2-45B0-AB92-249D71AE4917}"/>
              </a:ext>
            </a:extLst>
          </p:cNvPr>
          <p:cNvSpPr>
            <a:spLocks xmlns:a="http://schemas.openxmlformats.org/drawingml/2006/main" noGrp="1"/>
          </p:cNvSpPr>
          <p:nvPr/>
        </p:nvSpPr>
        <p:spPr>
          <a:xfrm xmlns:a="http://schemas.openxmlformats.org/drawingml/2006/main">
            <a:off x="666750" y="8477250"/>
            <a:ext cx="7762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C4C74"/>
                </a:solidFill>
                <a:latin typeface="Aptos"/>
                <a:ea typeface="Aptos"/>
                <a:cs typeface="Aptos"/>
              </a:defRPr>
            </a:defPPr>
          </a:lstStyle>
          <a:p xmlns:a="http://schemas.openxmlformats.org/drawingml/2006/main">
            <a:pPr>
              <a:defRPr sz="2100" b="0">
                <a:solidFill>
                  <a:srgbClr val="1C4C74"/>
                </a:solidFill>
                <a:latin typeface="Aptos"/>
                <a:ea typeface="Aptos"/>
                <a:cs typeface="Aptos"/>
              </a:defRPr>
            </a:pPr>
            <a:r>
              <a:rPr>
                <a:hlinkClick xmlns:r="http://schemas.openxmlformats.org/officeDocument/2006/relationships" r:id="R34e35381928c46b5"/>
              </a:rPr>
              <a:t>github.com/pedramkj/</a:t>
            </a:r>
          </a:p>
          <a:p xmlns:a="http://schemas.openxmlformats.org/drawingml/2006/main">
            <a:pPr>
              <a:defRPr sz="2100" b="0">
                <a:solidFill>
                  <a:srgbClr val="1C4C74"/>
                </a:solidFill>
                <a:latin typeface="Aptos"/>
                <a:ea typeface="Aptos"/>
                <a:cs typeface="Aptos"/>
              </a:defRPr>
            </a:pPr>
            <a:r>
              <a:rPr>
                <a:hlinkClick xmlns:r="http://schemas.openxmlformats.org/officeDocument/2006/relationships" r:id="Rebc0aac6570f44d3"/>
              </a:rPr>
              <a:t>bergamo-rental-strategy-analysis</a:t>
            </a:r>
          </a:p>
        </p:txBody>
      </p:sp>
      <p:sp>
        <p:nvSpPr>
          <p:cNvPr id="13" name="">
            <a:extLst xmlns:a="http://schemas.openxmlformats.org/drawingml/2006/main">
              <a:ext uri="{FF2B5EF4-FFF2-40B4-BE49-F238E27FC236}">
                <a16:creationId xmlns:a16="http://schemas.microsoft.com/office/drawing/2014/main" id="{B784DC68-2C35-4C8F-AF51-86E4A6279578}"/>
              </a:ext>
            </a:extLst>
          </p:cNvPr>
          <p:cNvSpPr>
            <a:spLocks xmlns:a="http://schemas.openxmlformats.org/drawingml/2006/main" noGrp="1"/>
          </p:cNvSpPr>
          <p:nvPr/>
        </p:nvSpPr>
        <p:spPr>
          <a:xfrm xmlns:a="http://schemas.openxmlformats.org/drawingml/2006/main">
            <a:off x="666750" y="9810750"/>
            <a:ext cx="7762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32B8B2"/>
                </a:solidFill>
                <a:latin typeface="Aptos"/>
                <a:ea typeface="Aptos"/>
                <a:cs typeface="Aptos"/>
              </a:defRPr>
            </a:defPPr>
          </a:lstStyle>
          <a:p xmlns:a="http://schemas.openxmlformats.org/drawingml/2006/main">
            <a:pPr>
              <a:defRPr sz="1875" b="1">
                <a:solidFill>
                  <a:srgbClr val="32B8B2"/>
                </a:solidFill>
                <a:latin typeface="Aptos"/>
                <a:ea typeface="Aptos"/>
                <a:cs typeface="Aptos"/>
              </a:defRPr>
            </a:pPr>
            <a:r>
              <a:rPr>
                <a:hlinkClick xmlns:r="http://schemas.openxmlformats.org/officeDocument/2006/relationships" r:id="R23f052c4eb714e51"/>
              </a:rPr>
              <a:t>linkedin.com/in/pedram-kojouri</a:t>
            </a:r>
          </a:p>
        </p:txBody>
      </p:sp>
    </p:spTree>
    <p:extLst>
      <p:ext uri="{BB962C8B-B14F-4D97-AF65-F5344CB8AC3E}">
        <p14:creationId xmlns:p14="http://schemas.microsoft.com/office/powerpoint/2010/main" val="387302662"/>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Pedram Kojouri</dc:creator>
  <lastModifiedBy>Pedram Kojouri</lastModifiedBy>
  <dc:title>More Tourists, More Profit?</dc:title>
  <dcterms:created xsi:type="dcterms:W3CDTF">2026-10-13T14:27:12.1530000Z</dcterms:created>
  <dcterms:modified xsi:type="dcterms:W3CDTF">2026-10-13T14:27:12.1530000Z</dcterms:modified>
</coreProperties>
</file>