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1772d16f514218" /><Relationship Type="http://schemas.openxmlformats.org/officeDocument/2006/relationships/extended-properties" Target="/docProps/app.xml" Id="R12cb7ad137314327" /><Relationship Type="http://schemas.openxmlformats.org/officeDocument/2006/relationships/officeDocument" Target="/ppt/presentation.xml" Id="Rd3f415d929174d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ac6ad832ab4206"/>
  </p:sldMasterIdLst>
  <p:notesMasterIdLst>
    <p:notesMasterId xmlns:r="http://schemas.openxmlformats.org/officeDocument/2006/relationships" r:id="R3d08de1a4c2a474e"/>
  </p:notesMasterIdLst>
  <p:sldIdLst>
    <p:sldId xmlns:r="http://schemas.openxmlformats.org/officeDocument/2006/relationships" id="256" r:id="R4d14a094f8c0431a"/>
    <p:sldId xmlns:r="http://schemas.openxmlformats.org/officeDocument/2006/relationships" id="257" r:id="R226de77e99b549a0"/>
    <p:sldId xmlns:r="http://schemas.openxmlformats.org/officeDocument/2006/relationships" id="258" r:id="R8b191e01931c49a9"/>
    <p:sldId xmlns:r="http://schemas.openxmlformats.org/officeDocument/2006/relationships" id="259" r:id="Rc804918377d24d5d"/>
    <p:sldId xmlns:r="http://schemas.openxmlformats.org/officeDocument/2006/relationships" id="260" r:id="Re6c081899702449f"/>
    <p:sldId xmlns:r="http://schemas.openxmlformats.org/officeDocument/2006/relationships" id="261" r:id="Rb1283e22bdff4b48"/>
    <p:sldId xmlns:r="http://schemas.openxmlformats.org/officeDocument/2006/relationships" id="262" r:id="R5f051c44b5de479e"/>
    <p:sldId xmlns:r="http://schemas.openxmlformats.org/officeDocument/2006/relationships" id="263" r:id="R45da8364f40848f1"/>
    <p:sldId xmlns:r="http://schemas.openxmlformats.org/officeDocument/2006/relationships" id="264" r:id="Rd6d5982c6d2c491d"/>
  </p:sldIdLst>
  <p:sldSz cx="9144000" cy="11430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ca479be2554a5d" /><Relationship Type="http://schemas.openxmlformats.org/officeDocument/2006/relationships/slideMaster" Target="/ppt/slideMasters/slideMaster1.xml" Id="R53ac6ad832ab4206" /><Relationship Type="http://schemas.openxmlformats.org/officeDocument/2006/relationships/notesMaster" Target="/ppt/notesMasters/notesMaster1.xml" Id="R3d08de1a4c2a474e" /><Relationship Type="http://schemas.openxmlformats.org/officeDocument/2006/relationships/presProps" Target="/ppt/presProps.xml" Id="Rd03f38909eb144a8" /><Relationship Type="http://schemas.openxmlformats.org/officeDocument/2006/relationships/viewProps" Target="/ppt/viewProps.xml" Id="Re982dc79df234346" /><Relationship Type="http://schemas.openxmlformats.org/officeDocument/2006/relationships/tableStyles" Target="/ppt/tableStyles.xml" Id="Rd380f6590b03443a" /><Relationship Type="http://schemas.openxmlformats.org/officeDocument/2006/relationships/slide" Target="/ppt/slides/slide1.xml" Id="R4d14a094f8c0431a" /><Relationship Type="http://schemas.openxmlformats.org/officeDocument/2006/relationships/slide" Target="/ppt/slides/slide2.xml" Id="R226de77e99b549a0" /><Relationship Type="http://schemas.openxmlformats.org/officeDocument/2006/relationships/slide" Target="/ppt/slides/slide3.xml" Id="R8b191e01931c49a9" /><Relationship Type="http://schemas.openxmlformats.org/officeDocument/2006/relationships/slide" Target="/ppt/slides/slide4.xml" Id="Rc804918377d24d5d" /><Relationship Type="http://schemas.openxmlformats.org/officeDocument/2006/relationships/slide" Target="/ppt/slides/slide5.xml" Id="Re6c081899702449f" /><Relationship Type="http://schemas.openxmlformats.org/officeDocument/2006/relationships/slide" Target="/ppt/slides/slide6.xml" Id="Rb1283e22bdff4b48" /><Relationship Type="http://schemas.openxmlformats.org/officeDocument/2006/relationships/slide" Target="/ppt/slides/slide7.xml" Id="R5f051c44b5de479e" /><Relationship Type="http://schemas.openxmlformats.org/officeDocument/2006/relationships/slide" Target="/ppt/slides/slide8.xml" Id="R45da8364f40848f1" /><Relationship Type="http://schemas.openxmlformats.org/officeDocument/2006/relationships/slide" Target="/ppt/slides/slide9.xml" Id="Rd6d5982c6d2c49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bcde7de7884a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1cd4e7424844b8" /><Relationship Type="http://schemas.openxmlformats.org/officeDocument/2006/relationships/notesMaster" Target="/ppt/notesMasters/notesMaster1.xml" Id="R08b349d974394e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c4da5201b84214" /><Relationship Type="http://schemas.openxmlformats.org/officeDocument/2006/relationships/notesMaster" Target="/ppt/notesMasters/notesMaster1.xml" Id="Ra6f21b0f33cf4a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ada92676a345c4" /><Relationship Type="http://schemas.openxmlformats.org/officeDocument/2006/relationships/notesMaster" Target="/ppt/notesMasters/notesMaster1.xml" Id="R8ed62a079d4642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ab7decef3342d3" /><Relationship Type="http://schemas.openxmlformats.org/officeDocument/2006/relationships/notesMaster" Target="/ppt/notesMasters/notesMaster1.xml" Id="Rf63f7dbf71c447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542b96f7184279" /><Relationship Type="http://schemas.openxmlformats.org/officeDocument/2006/relationships/notesMaster" Target="/ppt/notesMasters/notesMaster1.xml" Id="Re950bf5205d84e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ace6a5e2184134" /><Relationship Type="http://schemas.openxmlformats.org/officeDocument/2006/relationships/notesMaster" Target="/ppt/notesMasters/notesMaster1.xml" Id="Rd4c3a7d8dd584c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8ab10367524377" /><Relationship Type="http://schemas.openxmlformats.org/officeDocument/2006/relationships/notesMaster" Target="/ppt/notesMasters/notesMaster1.xml" Id="Rd863a552004449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d113ad4ff548a3" /><Relationship Type="http://schemas.openxmlformats.org/officeDocument/2006/relationships/notesMaster" Target="/ppt/notesMasters/notesMaster1.xml" Id="Rb77cbea9ab4d45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01e84eb22484396" /><Relationship Type="http://schemas.openxmlformats.org/officeDocument/2006/relationships/notesMaster" Target="/ppt/notesMasters/notesMaster1.xml" Id="R1d7c8a64607249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Scope: Comune di Bergamo. This deck summarises the complete v03 report and scenario calculations. No market-average profit is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https://www.dati.lombardia.it/d/mzxz-sz25 and https://www.dati.lombardia.it/d/vyxt-7jdx. 2019 791353, 2024 1208189 guest nights. Regional monthly and annual totals reconcile.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Chiodelli and Cassiani (2026), Chi gestisce Airbnb a Bergamo e dintorni, FULL, pp. 16–20. https://www.researchgate.net/publication/405451146_Chi_gestisce_Airbnb_a_Bergamo_e_dintorni_L%27evoluzione_del_fenomeno_degli_affitti_brevi_tra_il_2017_e_il_2024 . FULL and AirDNA are not independent corroborating sources.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https://assaeroporti.com/statistiche/?month=12&amp;selectedYear=2025; all years 2019–2025 use January–December totals, checked against passenger detail. City 2025: https://www.provincia.bergamo.it/cnvpbgrm/po/mostra_news.php?area=H&amp;id=2591 . 2025 city and 2024 regional vintages differ. See data/airport-city-annual.json and airport_analysis.py.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Manual online rental listing review,14October2026.96candidate rows:21original,20leads,55additional.14primary properties,mean894.2857142857143EUR/month,median850;40–65advertisedm2,furnished one-bedroom,selected central labels,explicit4+4.20-property target unmet.2confirmed duplicate clusters,6probable review pairs. New LTR6677.828571428572,STR6544.50,gap minus133.32857142857. Historical900rent/LTR6732 preserved separately. New thresholds183/202/221/240. Source https://github.com/pedramkj/bergamo-rental-strategy-analysis/blob/main/results/rental-market-analysis.json and data/rental/source-register.csv. Source accessibility does not verify apartment availability or signed rents.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Manual online rental listing review,14October2026.96candidate rows:21original,20leads,55additional.14primary properties,mean894.2857142857143EUR/month,median850;40–65advertisedm2,furnished one-bedroom,selected central labels,explicit4+4.20-property target unmet.2confirmed duplicate clusters,6probable review pairs. New LTR6677.828571428572,STR6544.50,gap minus133.32857142857. Historical900rent/LTR6732 preserved separately. New thresholds183/202/221/240. Source https://github.com/pedramkj/bergamo-rental-strategy-analysis/blob/main/results/rental-market-analysis.json and data/rental/source-register.csv. Source accessibility does not verify apartment availability or signed rents.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Manual online rental listing review,14October2026.96candidate rows:21original,20leads,55additional.14primary properties,mean894.2857142857143EUR/month,median850;40–65advertisedm2,furnished one-bedroom,selected central labels,explicit4+4.20-property target unmet.2confirmed duplicate clusters,6probable review pairs. New LTR6677.828571428572,STR6544.50,gap minus133.32857142857. Historical900rent/LTR6732 preserved separately. New thresholds183/202/221/240. Source https://github.com/pedramkj/bergamo-rental-strategy-analysis/blob/main/results/rental-market-analysis.json and data/rental/source-register.csv. Source accessibility does not verify apartment availability or signed rents.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Manual online rental listing review,14October2026.96candidate rows:21original,20leads,55additional.14primary properties,mean894.2857142857143EUR/month,median850;40–65advertisedm2,furnished one-bedroom,selected central labels,explicit4+4.20-property target unmet.2confirmed duplicate clusters,6probable review pairs. New LTR6677.828571428572,STR6544.50,gap minus133.32857142857. Historical900rent/LTR6732 preserved separately. New thresholds183/202/221/240. Source https://github.com/pedramkj/bergamo-rental-strategy-analysis/blob/main/results/rental-market-analysis.json and data/rental/source-register.csv. Source accessibility does not verify apartment availability or signed rents.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Manual online rental listing review,14October2026.96candidate rows:21original,20leads,55additional.14primary properties,mean894.2857142857143EUR/month,median850;40–65advertisedm2,furnished one-bedroom,selected central labels,explicit4+4.20-property target unmet.2confirmed duplicate clusters,6probable review pairs. New LTR6677.828571428572,STR6544.50,gap minus133.32857142857. Historical900rent/LTR6732 preserved separately. New thresholds183/202/221/240. Source https://github.com/pedramkj/bergamo-rental-strategy-analysis/blob/main/results/rental-market-analysis.json and data/rental/source-register.csv. Source accessibility does not verify apartment availability or signed rents.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5feb3e15b74a53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8e5ade348e4dcf" /><Relationship Type="http://schemas.openxmlformats.org/officeDocument/2006/relationships/slideLayout" Target="/ppt/slideLayouts/slideLayout1.xml" Id="R8200c0077a074e7e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00c0077a074e7e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6d4174fcd4d27" /><Relationship Type="http://schemas.openxmlformats.org/officeDocument/2006/relationships/hyperlink" Target="https://www.linkedin.com/in/pedram-kojouri/" TargetMode="External" Id="R43cfadd6e1834d34" /><Relationship Type="http://schemas.openxmlformats.org/officeDocument/2006/relationships/notesSlide" Target="/ppt/notesSlides/notesSlide1.xml" Id="R5e298da31f7b49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5f35e8ab243a2" /><Relationship Type="http://schemas.openxmlformats.org/officeDocument/2006/relationships/hyperlink" Target="https://www.linkedin.com/in/pedram-kojouri/" TargetMode="External" Id="R8f8c5dcbefd44d35" /><Relationship Type="http://schemas.openxmlformats.org/officeDocument/2006/relationships/chart" Target="/ppt/slides/charts/chart1.xml" Id="Rdf1b3d50699c4ece" /><Relationship Type="http://schemas.openxmlformats.org/officeDocument/2006/relationships/notesSlide" Target="/ppt/notesSlides/notesSlide2.xml" Id="R18bdce95dea44a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074919cab4a5e" /><Relationship Type="http://schemas.openxmlformats.org/officeDocument/2006/relationships/hyperlink" Target="https://www.linkedin.com/in/pedram-kojouri/" TargetMode="External" Id="R500ad9f1cdf742c9" /><Relationship Type="http://schemas.openxmlformats.org/officeDocument/2006/relationships/chart" Target="/ppt/slides/charts/chart2.xml" Id="R93c6282d739f414c" /><Relationship Type="http://schemas.openxmlformats.org/officeDocument/2006/relationships/notesSlide" Target="/ppt/notesSlides/notesSlide3.xml" Id="R7f4b0312810341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471b96439460c" /><Relationship Type="http://schemas.openxmlformats.org/officeDocument/2006/relationships/hyperlink" Target="https://www.linkedin.com/in/pedram-kojouri/" TargetMode="External" Id="Rfba92c8130e448fe" /><Relationship Type="http://schemas.openxmlformats.org/officeDocument/2006/relationships/chart" Target="/ppt/slides/charts/chart3.xml" Id="R9e68216ed0c6449c" /><Relationship Type="http://schemas.openxmlformats.org/officeDocument/2006/relationships/notesSlide" Target="/ppt/notesSlides/notesSlide4.xml" Id="Rd780033ddf6843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40d15d90b446e0" /><Relationship Type="http://schemas.openxmlformats.org/officeDocument/2006/relationships/hyperlink" Target="https://www.linkedin.com/in/pedram-kojouri/" TargetMode="External" Id="R0090792ea43a4da2" /><Relationship Type="http://schemas.openxmlformats.org/officeDocument/2006/relationships/notesSlide" Target="/ppt/notesSlides/notesSlide5.xml" Id="Rc535be3da1a84c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8c63bbaca45c0" /><Relationship Type="http://schemas.openxmlformats.org/officeDocument/2006/relationships/hyperlink" Target="https://www.linkedin.com/in/pedram-kojouri/" TargetMode="External" Id="R748177b24e444e05" /><Relationship Type="http://schemas.openxmlformats.org/officeDocument/2006/relationships/notesSlide" Target="/ppt/notesSlides/notesSlide6.xml" Id="R3e2a52f9868242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247ad38184b0a" /><Relationship Type="http://schemas.openxmlformats.org/officeDocument/2006/relationships/hyperlink" Target="https://www.linkedin.com/in/pedram-kojouri/" TargetMode="External" Id="R482f0f520aff425d" /><Relationship Type="http://schemas.openxmlformats.org/officeDocument/2006/relationships/chart" Target="/ppt/slides/charts/chart4.xml" Id="Ra2aebaffdc7940c7" /><Relationship Type="http://schemas.openxmlformats.org/officeDocument/2006/relationships/notesSlide" Target="/ppt/notesSlides/notesSlide7.xml" Id="R6fa35416058844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61ad355304bdc" /><Relationship Type="http://schemas.openxmlformats.org/officeDocument/2006/relationships/hyperlink" Target="https://www.linkedin.com/in/pedram-kojouri/" TargetMode="External" Id="R3f58359c8bfe48b9" /><Relationship Type="http://schemas.openxmlformats.org/officeDocument/2006/relationships/notesSlide" Target="/ppt/notesSlides/notesSlide8.xml" Id="R9d867dc304144a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dc19dda6d146a0" /><Relationship Type="http://schemas.openxmlformats.org/officeDocument/2006/relationships/hyperlink" Target="https://www.linkedin.com/in/pedram-kojouri/" TargetMode="External" Id="Rc0da318bfdc14087" /><Relationship Type="http://schemas.openxmlformats.org/officeDocument/2006/relationships/hyperlink" Target="https://github.com/pedramkj/bergamo-rental-strategy-analysis" TargetMode="External" Id="R34e35381928c46b5" /><Relationship Type="http://schemas.openxmlformats.org/officeDocument/2006/relationships/hyperlink" Target="https://github.com/pedramkj/bergamo-rental-strategy-analysis" TargetMode="External" Id="Rebc0aac6570f44d3" /><Relationship Type="http://schemas.openxmlformats.org/officeDocument/2006/relationships/hyperlink" Target="https://www.linkedin.com/in/pedram-kojouri/" TargetMode="External" Id="R23f052c4eb714e51" /><Relationship Type="http://schemas.openxmlformats.org/officeDocument/2006/relationships/notesSlide" Target="/ppt/notesSlides/notesSlide9.xml" Id="Re6e2a94c8cdc47b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City guest nights</c:v>
          </c:tx>
          <c:spPr>
            <a:solidFill xmlns:a="http://schemas.openxmlformats.org/drawingml/2006/main">
              <a:srgbClr val="1C4C74"/>
            </a:solidFill>
            <a:ln xmlns:a="http://schemas.openxmlformats.org/drawingml/2006/main" w="28575">
              <a:solidFill>
                <a:srgbClr val="1C4C74"/>
              </a:solidFill>
            </a:ln>
          </c:spPr>
          <c:invertIfNegative val="0"/>
          <c:cat>
            <c:numRef>
              <c:f>'Chart Data'!$A$2:$A$3</c:f>
              <c:numCache>
                <c:formatCode>General</c:formatCode>
                <c:ptCount val="2"/>
                <c:pt idx="0">
                  <c:v>2019</c:v>
                </c:pt>
                <c:pt idx="1">
                  <c:v>2024</c:v>
                </c:pt>
              </c:numCache>
            </c:numRef>
          </c:cat>
          <c:val>
            <c:numRef>
              <c:f>'Chart Data'!$B$2:$B$3</c:f>
              <c:numCache>
                <c:formatCode>0</c:formatCode>
                <c:ptCount val="2"/>
                <c:pt idx="0">
                  <c:v>791353</c:v>
                </c:pt>
                <c:pt idx="1">
                  <c:v>1208189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D233A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140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0D233A"/>
                    </a:solidFill>
                    <a:latin typeface="Aptos"/>
                    <a:ea typeface="Aptos"/>
                    <a:cs typeface="Aptos"/>
                  </a:rPr>
                  <a:t>Guest nights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0D233A"/>
                  </a:solidFill>
                  <a:latin typeface="Aptos"/>
                  <a:ea typeface="Aptos"/>
                  <a:cs typeface="Apto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D233A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8FA"/>
        </a:solidFill>
      </c:spPr>
    </c:plotArea>
    <c:plotVisOnly val="1"/>
  </c:chart>
  <c:spPr>
    <a:solidFill xmlns:a="http://schemas.openxmlformats.org/drawingml/2006/main">
      <a:srgbClr val="F6F8FA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Occupancy percent</c:v>
          </c:tx>
          <c:spPr>
            <a:solidFill xmlns:a="http://schemas.openxmlformats.org/drawingml/2006/main">
              <a:srgbClr val="32B8B2"/>
            </a:solidFill>
            <a:ln xmlns:a="http://schemas.openxmlformats.org/drawingml/2006/main" w="28575">
              <a:solidFill>
                <a:srgbClr val="32B8B2"/>
              </a:solidFill>
            </a:ln>
          </c:spPr>
          <c:invertIfNegative val="0"/>
          <c:cat>
            <c:numRef>
              <c:f>'Chart Data'!$A$2:$A$3</c:f>
              <c:numCache>
                <c:formatCode>General</c:formatCode>
                <c:ptCount val="2"/>
                <c:pt idx="0">
                  <c:v>2023</c:v>
                </c:pt>
                <c:pt idx="1">
                  <c:v>2024</c:v>
                </c:pt>
              </c:numCache>
            </c:numRef>
          </c:cat>
          <c:val>
            <c:numRef>
              <c:f>'Chart Data'!$B$2:$B$3</c:f>
              <c:numCache>
                <c:formatCode>0</c:formatCode>
                <c:ptCount val="2"/>
                <c:pt idx="0">
                  <c:v>57.8</c:v>
                </c:pt>
                <c:pt idx="1">
                  <c:v>54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D233A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0D233A"/>
                    </a:solidFill>
                    <a:latin typeface="Aptos"/>
                    <a:ea typeface="Aptos"/>
                    <a:cs typeface="Aptos"/>
                  </a:rPr>
                  <a:t>Occupancy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0D233A"/>
                  </a:solidFill>
                  <a:latin typeface="Aptos"/>
                  <a:ea typeface="Aptos"/>
                  <a:cs typeface="Apto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D233A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8FA"/>
        </a:solidFill>
      </c:spPr>
    </c:plotArea>
    <c:plotVisOnly val="1"/>
  </c:chart>
  <c:spPr>
    <a:solidFill xmlns:a="http://schemas.openxmlformats.org/drawingml/2006/main">
      <a:srgbClr val="F6F8FA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BGY passengers</c:v>
          </c:tx>
          <c:spPr>
            <a:solidFill xmlns:a="http://schemas.openxmlformats.org/drawingml/2006/main">
              <a:srgbClr val="64798B"/>
            </a:solidFill>
            <a:ln xmlns:a="http://schemas.openxmlformats.org/drawingml/2006/main" w="28575">
              <a:solidFill>
                <a:srgbClr val="64798B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rgbClr val="64798B"/>
              </a:solidFill>
            </c:spPr>
          </c:marker>
          <c:cat>
            <c:numRef>
              <c:f>'Chart Data'!$A$2:$A$8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'Chart Data'!$B$2:$B$8</c:f>
              <c:numCache>
                <c:formatCode>0</c:formatCode>
                <c:ptCount val="7"/>
                <c:pt idx="0">
                  <c:v>100</c:v>
                </c:pt>
                <c:pt idx="1">
                  <c:v>27.66</c:v>
                </c:pt>
                <c:pt idx="2">
                  <c:v>46.67</c:v>
                </c:pt>
                <c:pt idx="3">
                  <c:v>94.94</c:v>
                </c:pt>
                <c:pt idx="4">
                  <c:v>115.28</c:v>
                </c:pt>
                <c:pt idx="5">
                  <c:v>125.23</c:v>
                </c:pt>
                <c:pt idx="6">
                  <c:v>122.23</c:v>
                </c:pt>
              </c:numCache>
            </c:numRef>
          </c:val>
          <c:smooth val="0"/>
        </c:ser>
        <c:ser>
          <c:idx val="1"/>
          <c:order val="1"/>
          <c:tx>
            <c:v>City guest nights</c:v>
          </c:tx>
          <c:spPr>
            <a:solidFill xmlns:a="http://schemas.openxmlformats.org/drawingml/2006/main">
              <a:srgbClr val="32B8B2"/>
            </a:solidFill>
            <a:ln xmlns:a="http://schemas.openxmlformats.org/drawingml/2006/main" w="28575">
              <a:solidFill>
                <a:srgbClr val="32B8B2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rgbClr val="32B8B2"/>
              </a:solidFill>
            </c:spPr>
          </c:marker>
          <c:cat>
            <c:numRef>
              <c:f>'Chart Data'!$C$2:$C$8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'Chart Data'!$D$2:$D$8</c:f>
              <c:numCache>
                <c:formatCode>0</c:formatCode>
                <c:ptCount val="7"/>
                <c:pt idx="0">
                  <c:v>100</c:v>
                </c:pt>
                <c:pt idx="1">
                  <c:v>28.67</c:v>
                </c:pt>
                <c:pt idx="2">
                  <c:v>51.77</c:v>
                </c:pt>
                <c:pt idx="3">
                  <c:v>92.79</c:v>
                </c:pt>
                <c:pt idx="4">
                  <c:v>128.54</c:v>
                </c:pt>
                <c:pt idx="5">
                  <c:v>152.67</c:v>
                </c:pt>
                <c:pt idx="6">
                  <c:v>171.85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D233A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1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0D233A"/>
                    </a:solidFill>
                    <a:latin typeface="Aptos"/>
                    <a:ea typeface="Aptos"/>
                    <a:cs typeface="Aptos"/>
                  </a:rPr>
                  <a:t>Index, 2019 = 100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0D233A"/>
                  </a:solidFill>
                  <a:latin typeface="Aptos"/>
                  <a:ea typeface="Aptos"/>
                  <a:cs typeface="Apto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D233A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8FA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0D233A"/>
              </a:solidFill>
              <a:latin typeface="Aptos"/>
              <a:ea typeface="Aptos"/>
              <a:cs typeface="Aptos"/>
            </a:defRPr>
          </a:pPr>
        </a:p>
      </c:txPr>
    </c:legend>
    <c:plotVisOnly val="1"/>
  </c:chart>
  <c:spPr>
    <a:solidFill xmlns:a="http://schemas.openxmlformats.org/drawingml/2006/main">
      <a:srgbClr val="F6F8FA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Required nights</c:v>
          </c:tx>
          <c:spPr>
            <a:solidFill xmlns:a="http://schemas.openxmlformats.org/drawingml/2006/main">
              <a:srgbClr val="1C4C74"/>
            </a:solidFill>
            <a:ln xmlns:a="http://schemas.openxmlformats.org/drawingml/2006/main" w="28575">
              <a:solidFill>
                <a:srgbClr val="1C4C74"/>
              </a:solidFill>
            </a:ln>
          </c:spPr>
          <c:invertIfNegative val="0"/>
          <c:cat>
            <c:strRef>
              <c:f>'Chart Data'!$A$2:$A$5</c:f>
              <c:strCache>
                <c:ptCount val="4"/>
                <c:pt idx="0">
                  <c:v>€0</c:v>
                </c:pt>
                <c:pt idx="1">
                  <c:v>€5,000</c:v>
                </c:pt>
                <c:pt idx="2">
                  <c:v>€10,000</c:v>
                </c:pt>
                <c:pt idx="3">
                  <c:v>€15,000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183</c:v>
                </c:pt>
                <c:pt idx="1">
                  <c:v>202</c:v>
                </c:pt>
                <c:pt idx="2">
                  <c:v>221</c:v>
                </c:pt>
                <c:pt idx="3">
                  <c:v>240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D233A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2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0D233A"/>
                    </a:solidFill>
                    <a:latin typeface="Aptos"/>
                    <a:ea typeface="Aptos"/>
                    <a:cs typeface="Aptos"/>
                  </a:rPr>
                  <a:t>Minimum booked nights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0D233A"/>
                  </a:solidFill>
                  <a:latin typeface="Aptos"/>
                  <a:ea typeface="Aptos"/>
                  <a:cs typeface="Apto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D233A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8FA"/>
        </a:solidFill>
      </c:spPr>
    </c:plotArea>
    <c:plotVisOnly val="1"/>
  </c:chart>
  <c:spPr>
    <a:solidFill xmlns:a="http://schemas.openxmlformats.org/drawingml/2006/main">
      <a:srgbClr val="F6F8FA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23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975D419-451F-4515-B142-05E5B89C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29184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  <a:hlinkClick xmlns:r="http://schemas.openxmlformats.org/officeDocument/2006/relationships" r:id="R43cfadd6e1834d34"/>
              </a:rPr>
              <a:t>PK / PEDRAM KOJOURI / LINKEDIN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836D148-0528-4604-9CB0-52D03C31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29184"/>
            <a:ext cx="277977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>
                <a:solidFill>
                  <a:srgbClr val="9CCAC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0" indent="0" algn="r">
              <a:buNone/>
              <a:defRPr sz="900">
                <a:solidFill>
                  <a:srgbClr val="9CCACD"/>
                </a:solidFill>
                <a:latin typeface="Aptos"/>
                <a:ea typeface="Aptos"/>
                <a:cs typeface="Aptos"/>
              </a:defRPr>
            </a:pPr>
            <a:r>
              <a:rPr sz="900" spc="120">
                <a:solidFill>
                  <a:srgbClr val="9CCACD"/>
                </a:solidFill>
                <a:latin typeface="Aptos"/>
                <a:ea typeface="Aptos"/>
                <a:cs typeface="Aptos"/>
              </a:rPr>
              <a:t>BERGAMO RENTAL STRATEGIES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1EA15C8-05DA-4FFB-B2F4-33B0A602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768096"/>
            <a:ext cx="79004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527089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71C07EF-434A-4A31-BD6C-D71C25EE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0826496"/>
            <a:ext cx="79004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527089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3DD706F-B966-4EE7-8679-BE018042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0981944"/>
            <a:ext cx="6949440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800">
                <a:solidFill>
                  <a:srgbClr val="ADCDD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0" indent="0">
              <a:buNone/>
              <a:defRPr sz="800">
                <a:solidFill>
                  <a:srgbClr val="ADCDD2"/>
                </a:solidFill>
                <a:latin typeface="Aptos"/>
                <a:ea typeface="Aptos"/>
                <a:cs typeface="Aptos"/>
              </a:defRPr>
            </a:pPr>
            <a:r>
              <a:rPr sz="800" spc="60">
                <a:solidFill>
                  <a:srgbClr val="ADCDD2"/>
                </a:solidFill>
                <a:latin typeface="Aptos"/>
                <a:ea typeface="Aptos"/>
                <a:cs typeface="Aptos"/>
              </a:rPr>
              <a:t>DATA ANALYTICS  /  ECONOMICS  /  BUSINESS INTELLIGENCE</a:t>
            </a:r>
            <a:endParaRPr sz="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C4B3A5A-D594-4C62-B5E8-8F85362C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10963656"/>
            <a:ext cx="548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0" indent="0" algn="r">
              <a:buNone/>
              <a:defRPr sz="1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  <a:endParaRPr sz="1100"/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2939AA-A04D-4B85-B8A8-EE0F7723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14500"/>
            <a:ext cx="790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More Tourists,</a:t>
            </a:r>
          </a:p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More Profit?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2082C2-4DF2-49D8-913E-8611F61B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7762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ADCDD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ADCDD2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ADCDD2"/>
                </a:solidFill>
                <a:latin typeface="Aptos"/>
                <a:ea typeface="Aptos"/>
                <a:cs typeface="Aptos"/>
              </a:rPr>
              <a:t>A Data-Driven Business Case Study on Rental Profitability in Bergamo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012E98-62B8-49D3-9745-71983B66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7762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9CCAC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9CCAC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9CCACD"/>
                </a:solidFill>
                <a:latin typeface="Aptos"/>
                <a:ea typeface="Aptos"/>
                <a:cs typeface="Aptos"/>
              </a:rPr>
              <a:t>DATA ANALYTICS CASE STUDY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CF822D-DA8C-49C9-9619-BE67A233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62750"/>
            <a:ext cx="7762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Tourism demand</a:t>
            </a:r>
          </a:p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Owner cash income</a:t>
            </a:r>
          </a:p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cost of conversion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6DCECB-059D-4F69-B1AE-F9902A60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0"/>
            <a:ext cx="7762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ADCDD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ADCDD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ADCDD2"/>
                </a:solidFill>
                <a:latin typeface="Aptos"/>
                <a:ea typeface="Aptos"/>
                <a:cs typeface="Aptos"/>
              </a:rPr>
              <a:t>Pedram Kojouri</a:t>
            </a:r>
          </a:p>
          <a:p xmlns:a="http://schemas.openxmlformats.org/drawingml/2006/main">
            <a:pPr>
              <a:defRPr sz="1950" b="0">
                <a:solidFill>
                  <a:srgbClr val="ADCDD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ADCDD2"/>
                </a:solidFill>
                <a:latin typeface="Aptos"/>
                <a:ea typeface="Aptos"/>
                <a:cs typeface="Aptos"/>
              </a:rPr>
              <a:t>October 2026</a:t>
            </a:r>
          </a:p>
        </p:txBody>
      </p:sp>
    </p:spTree>
    <p:extLst>
      <p:ext uri="{BB962C8B-B14F-4D97-AF65-F5344CB8AC3E}">
        <p14:creationId xmlns:p14="http://schemas.microsoft.com/office/powerpoint/2010/main" val="18938503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4546816-40EB-4344-B204-4023DFB1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29184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100" b="1">
                <a:solidFill>
                  <a:srgbClr val="0D23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100" b="1">
                <a:solidFill>
                  <a:srgbClr val="0D233A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0D233A"/>
                </a:solidFill>
                <a:latin typeface="Aptos"/>
                <a:ea typeface="Aptos"/>
                <a:cs typeface="Aptos"/>
                <a:hlinkClick xmlns:r="http://schemas.openxmlformats.org/officeDocument/2006/relationships" r:id="R8f8c5dcbefd44d35"/>
              </a:rPr>
              <a:t>PK / PEDRAM KOJOURI / LINKEDIN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E674404-B666-4010-8BFA-0306B384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29184"/>
            <a:ext cx="277977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>
                <a:solidFill>
                  <a:srgbClr val="6479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0" indent="0" algn="r">
              <a:buNone/>
              <a:defRPr sz="900">
                <a:solidFill>
                  <a:srgbClr val="64798B"/>
                </a:solidFill>
                <a:latin typeface="Aptos"/>
                <a:ea typeface="Aptos"/>
                <a:cs typeface="Aptos"/>
              </a:defRPr>
            </a:pPr>
            <a:r>
              <a:rPr sz="900" spc="120">
                <a:solidFill>
                  <a:srgbClr val="64798B"/>
                </a:solidFill>
                <a:latin typeface="Aptos"/>
                <a:ea typeface="Aptos"/>
                <a:cs typeface="Aptos"/>
              </a:rPr>
              <a:t>THE BUSINESS QUESTION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7C26B2D-D200-422C-9B7F-6B62FCF0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768096"/>
            <a:ext cx="79004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BE5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3061826-2F65-432A-B5B2-46D21FB4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0826496"/>
            <a:ext cx="79004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BE5E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51E8170-4336-494C-A038-49381658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0981944"/>
            <a:ext cx="6949440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800">
                <a:solidFill>
                  <a:srgbClr val="6479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0" indent="0">
              <a:buNone/>
              <a:defRPr sz="800">
                <a:solidFill>
                  <a:srgbClr val="64798B"/>
                </a:solidFill>
                <a:latin typeface="Aptos"/>
                <a:ea typeface="Aptos"/>
                <a:cs typeface="Aptos"/>
              </a:defRPr>
            </a:pPr>
            <a:r>
              <a:rPr sz="800" spc="60">
                <a:solidFill>
                  <a:srgbClr val="64798B"/>
                </a:solidFill>
                <a:latin typeface="Aptos"/>
                <a:ea typeface="Aptos"/>
                <a:cs typeface="Aptos"/>
              </a:rPr>
              <a:t>DATA ANALYTICS  /  ECONOMICS  /  BUSINESS INTELLIGENCE</a:t>
            </a:r>
            <a:endParaRPr sz="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98BFD0C-A1CF-4891-A5B0-789948C9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10963656"/>
            <a:ext cx="548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00" b="1">
                <a:solidFill>
                  <a:srgbClr val="0D23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0" indent="0" algn="r">
              <a:buNone/>
              <a:defRPr sz="1100" b="1">
                <a:solidFill>
                  <a:srgbClr val="0D233A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0D233A"/>
                </a:solidFill>
                <a:latin typeface="Aptos"/>
                <a:ea typeface="Aptos"/>
                <a:cs typeface="Aptos"/>
              </a:rPr>
              <a:t>02</a:t>
            </a:r>
            <a:endParaRPr sz="1100"/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0BC314-0EDE-4758-A34B-5DABB5A2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14500"/>
            <a:ext cx="790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1">
                <a:solidFill>
                  <a:srgbClr val="0D23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0D233A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0D233A"/>
                </a:solidFill>
                <a:latin typeface="Aptos"/>
                <a:ea typeface="Aptos"/>
                <a:cs typeface="Aptos"/>
              </a:rPr>
              <a:t>Tourism is growing.</a:t>
            </a:r>
          </a:p>
          <a:p xmlns:a="http://schemas.openxmlformats.org/drawingml/2006/main">
            <a:pPr>
              <a:defRPr sz="4200" b="1">
                <a:solidFill>
                  <a:srgbClr val="0D233A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0D233A"/>
                </a:solidFill>
                <a:latin typeface="Aptos"/>
                <a:ea typeface="Aptos"/>
                <a:cs typeface="Aptos"/>
              </a:rPr>
              <a:t>What does an owner keep?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D28A02-086C-4613-B733-818F326B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7762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C4C74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C4C74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C4C74"/>
                </a:solidFill>
                <a:latin typeface="Aptos"/>
                <a:ea typeface="Aptos"/>
                <a:cs typeface="Aptos"/>
              </a:rPr>
              <a:t>City guest nights increased by 52.7% between 2019 and 2024.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655B8BD7-795D-4171-AB53-3E2BE464CC79}"/>
              </a:ext>
            </a:extLst>
          </p:cNvPr>
          <p:cNvGraphicFramePr/>
          <p:nvPr/>
        </p:nvGraphicFramePr>
        <p:xfrm>
          <a:off xmlns:a="http://schemas.openxmlformats.org/drawingml/2006/main" x="666750" y="4857750"/>
          <a:ext xmlns:a="http://schemas.openxmlformats.org/drawingml/2006/main" cx="77152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f1b3d50699c4ece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FD3B4B-DA72-4C2A-B22F-E2EEA2FB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0"/>
            <a:ext cx="7762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479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4798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4798B"/>
                </a:solidFill>
                <a:latin typeface="Aptos"/>
                <a:ea typeface="Aptos"/>
                <a:cs typeface="Aptos"/>
              </a:rPr>
              <a:t>Source: Regione Lombardia, city aggregate tourism data. Market growth alone does not establish a rental profit advantage.</a:t>
            </a:r>
          </a:p>
        </p:txBody>
      </p:sp>
    </p:spTree>
    <p:extLst>
      <p:ext uri="{BB962C8B-B14F-4D97-AF65-F5344CB8AC3E}">
        <p14:creationId xmlns:p14="http://schemas.microsoft.com/office/powerpoint/2010/main" val="2679264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4546816-40EB-4344-B204-4023DFB1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29184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100" b="1">
                <a:solidFill>
                  <a:srgbClr val="0D23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100" b="1">
                <a:solidFill>
                  <a:srgbClr val="0D233A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0D233A"/>
                </a:solidFill>
                <a:latin typeface="Aptos"/>
                <a:ea typeface="Aptos"/>
                <a:cs typeface="Aptos"/>
                <a:hlinkClick xmlns:r="http://schemas.openxmlformats.org/officeDocument/2006/relationships" r:id="R500ad9f1cdf742c9"/>
              </a:rPr>
              <a:t>PK / PEDRAM KOJOURI / LINKEDIN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E674404-B666-4010-8BFA-0306B384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29184"/>
            <a:ext cx="277977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>
                <a:solidFill>
                  <a:srgbClr val="6479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0" indent="0" algn="r">
              <a:buNone/>
              <a:defRPr sz="900">
                <a:solidFill>
                  <a:srgbClr val="64798B"/>
                </a:solidFill>
                <a:latin typeface="Aptos"/>
                <a:ea typeface="Aptos"/>
                <a:cs typeface="Aptos"/>
              </a:defRPr>
            </a:pPr>
            <a:r>
              <a:rPr sz="900" spc="120">
                <a:solidFill>
                  <a:srgbClr val="64798B"/>
                </a:solidFill>
                <a:latin typeface="Aptos"/>
                <a:ea typeface="Aptos"/>
                <a:cs typeface="Aptos"/>
              </a:rPr>
              <a:t>MARKET PERFORMANCE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7C26B2D-D200-422C-9B7F-6B62FCF0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768096"/>
            <a:ext cx="79004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BE5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3061826-2F65-432A-B5B2-46D21FB4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0826496"/>
            <a:ext cx="79004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BE5E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51E8170-4336-494C-A038-49381658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0981944"/>
            <a:ext cx="6949440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800">
                <a:solidFill>
                  <a:srgbClr val="6479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0" indent="0">
              <a:buNone/>
              <a:defRPr sz="800">
                <a:solidFill>
                  <a:srgbClr val="64798B"/>
                </a:solidFill>
                <a:latin typeface="Aptos"/>
                <a:ea typeface="Aptos"/>
                <a:cs typeface="Aptos"/>
              </a:defRPr>
            </a:pPr>
            <a:r>
              <a:rPr sz="800" spc="60">
                <a:solidFill>
                  <a:srgbClr val="64798B"/>
                </a:solidFill>
                <a:latin typeface="Aptos"/>
                <a:ea typeface="Aptos"/>
                <a:cs typeface="Aptos"/>
              </a:rPr>
              <a:t>DATA ANALYTICS  /  ECONOMICS  /  BUSINESS INTELLIGENCE</a:t>
            </a:r>
            <a:endParaRPr sz="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98BFD0C-A1CF-4891-A5B0-789948C9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10963656"/>
            <a:ext cx="548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00" b="1">
                <a:solidFill>
                  <a:srgbClr val="0D23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0" indent="0" algn="r">
              <a:buNone/>
              <a:defRPr sz="1100" b="1">
                <a:solidFill>
                  <a:srgbClr val="0D233A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0D233A"/>
                </a:solidFill>
                <a:latin typeface="Aptos"/>
                <a:ea typeface="Aptos"/>
                <a:cs typeface="Aptos"/>
              </a:rPr>
              <a:t>03</a:t>
            </a:r>
            <a:endParaRPr sz="1100"/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AF0307-56BA-49E5-94B9-7EB07540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14500"/>
            <a:ext cx="790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1">
                <a:solidFill>
                  <a:srgbClr val="0D23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0D233A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0D233A"/>
                </a:solidFill>
                <a:latin typeface="Aptos"/>
                <a:ea typeface="Aptos"/>
                <a:cs typeface="Aptos"/>
              </a:rPr>
              <a:t>Demand growth and</a:t>
            </a:r>
          </a:p>
          <a:p xmlns:a="http://schemas.openxmlformats.org/drawingml/2006/main">
            <a:pPr>
              <a:defRPr sz="4200" b="1">
                <a:solidFill>
                  <a:srgbClr val="0D233A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0D233A"/>
                </a:solidFill>
                <a:latin typeface="Aptos"/>
                <a:ea typeface="Aptos"/>
                <a:cs typeface="Aptos"/>
              </a:rPr>
              <a:t>occupancy can diverge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8C34BF-3DC9-40E1-844B-618932E3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7762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C4C74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C4C74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C4C74"/>
                </a:solidFill>
                <a:latin typeface="Aptos"/>
                <a:ea typeface="Aptos"/>
                <a:cs typeface="Aptos"/>
              </a:rPr>
              <a:t>Historical estimated Airbnb occupancy fell 3.8 percentage points in 2024.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0DBCFA23-75B3-4D0C-886E-BC2BBA5F083A}"/>
              </a:ext>
            </a:extLst>
          </p:cNvPr>
          <p:cNvGraphicFramePr/>
          <p:nvPr/>
        </p:nvGraphicFramePr>
        <p:xfrm>
          <a:off xmlns:a="http://schemas.openxmlformats.org/drawingml/2006/main" x="666750" y="4857750"/>
          <a:ext xmlns:a="http://schemas.openxmlformats.org/drawingml/2006/main" cx="77152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3c6282d739f414c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537162-F370-4696-A545-DDDA6FE1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0"/>
            <a:ext cx="7762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479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4798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4798B"/>
                </a:solidFill>
                <a:latin typeface="Aptos"/>
                <a:ea typeface="Aptos"/>
                <a:cs typeface="Aptos"/>
              </a:rPr>
              <a:t>Source: FULL research using AirDNA estimates. All-listing city benchmark, not a matched apartment cohort.</a:t>
            </a:r>
          </a:p>
        </p:txBody>
      </p:sp>
    </p:spTree>
    <p:extLst>
      <p:ext uri="{BB962C8B-B14F-4D97-AF65-F5344CB8AC3E}">
        <p14:creationId xmlns:p14="http://schemas.microsoft.com/office/powerpoint/2010/main" val="2679264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1B47B66-2ED6-4269-BC63-EB0D0707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29184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100" b="1">
                <a:solidFill>
                  <a:srgbClr val="0D23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100" b="1">
                <a:solidFill>
                  <a:srgbClr val="0D233A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0D233A"/>
                </a:solidFill>
                <a:latin typeface="Aptos"/>
                <a:ea typeface="Aptos"/>
                <a:cs typeface="Aptos"/>
                <a:hlinkClick xmlns:r="http://schemas.openxmlformats.org/officeDocument/2006/relationships" r:id="Rfba92c8130e448fe"/>
              </a:rPr>
              <a:t>PK / PEDRAM KOJOURI / LINKEDIN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2B90F25-CBD2-48EB-AFFB-C15261E6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29184"/>
            <a:ext cx="277977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>
                <a:solidFill>
                  <a:srgbClr val="6479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0" indent="0" algn="r">
              <a:buNone/>
              <a:defRPr sz="900">
                <a:solidFill>
                  <a:srgbClr val="64798B"/>
                </a:solidFill>
                <a:latin typeface="Aptos"/>
                <a:ea typeface="Aptos"/>
                <a:cs typeface="Aptos"/>
              </a:defRPr>
            </a:pPr>
            <a:r>
              <a:rPr sz="900" spc="120">
                <a:solidFill>
                  <a:srgbClr val="64798B"/>
                </a:solidFill>
                <a:latin typeface="Aptos"/>
                <a:ea typeface="Aptos"/>
                <a:cs typeface="Aptos"/>
              </a:rPr>
              <a:t>BGY AND CITY TOURISM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1F8D9FA-8635-48F2-8DBE-9AA3974D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768096"/>
            <a:ext cx="79004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BE5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CF422EA-3AF2-4045-BED0-8DB1E013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0826496"/>
            <a:ext cx="79004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BE5E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9CC5B13-4959-4EF1-A706-1096F90D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0981944"/>
            <a:ext cx="6949440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800">
                <a:solidFill>
                  <a:srgbClr val="6479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0" indent="0">
              <a:buNone/>
              <a:defRPr sz="800">
                <a:solidFill>
                  <a:srgbClr val="64798B"/>
                </a:solidFill>
                <a:latin typeface="Aptos"/>
                <a:ea typeface="Aptos"/>
                <a:cs typeface="Aptos"/>
              </a:defRPr>
            </a:pPr>
            <a:r>
              <a:rPr sz="800" spc="60">
                <a:solidFill>
                  <a:srgbClr val="64798B"/>
                </a:solidFill>
                <a:latin typeface="Aptos"/>
                <a:ea typeface="Aptos"/>
                <a:cs typeface="Aptos"/>
              </a:rPr>
              <a:t>DATA ANALYTICS  /  ECONOMICS  /  BUSINESS INTELLIGENCE</a:t>
            </a:r>
            <a:endParaRPr sz="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C5B1F0B-1571-4FBF-96EB-2D89C64C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10963656"/>
            <a:ext cx="548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00" b="1">
                <a:solidFill>
                  <a:srgbClr val="0D23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0" indent="0" algn="r">
              <a:buNone/>
              <a:defRPr sz="1100" b="1">
                <a:solidFill>
                  <a:srgbClr val="0D233A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0D233A"/>
                </a:solidFill>
                <a:latin typeface="Aptos"/>
                <a:ea typeface="Aptos"/>
                <a:cs typeface="Aptos"/>
              </a:rPr>
              <a:t>04</a:t>
            </a:r>
            <a:endParaRPr sz="1100"/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471FB6-FEE5-43F1-B68D-C1C8C81C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14500"/>
            <a:ext cx="790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1">
                <a:solidFill>
                  <a:srgbClr val="0D23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0D233A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0D233A"/>
                </a:solidFill>
                <a:latin typeface="Aptos"/>
                <a:ea typeface="Aptos"/>
                <a:cs typeface="Aptos"/>
              </a:rPr>
              <a:t>Airport activity is</a:t>
            </a:r>
          </a:p>
          <a:p xmlns:a="http://schemas.openxmlformats.org/drawingml/2006/main">
            <a:pPr>
              <a:defRPr sz="4200" b="1">
                <a:solidFill>
                  <a:srgbClr val="0D233A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0D233A"/>
                </a:solidFill>
                <a:latin typeface="Aptos"/>
                <a:ea typeface="Aptos"/>
                <a:cs typeface="Aptos"/>
              </a:rPr>
              <a:t>a contextual signal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281279-4732-46C1-8365-77F6B807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7762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C4C74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C4C74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C4C74"/>
                </a:solidFill>
                <a:latin typeface="Aptos"/>
                <a:ea typeface="Aptos"/>
                <a:cs typeface="Aptos"/>
              </a:rPr>
              <a:t>2025: BGY passengers −2.4%, city guest nights +12.6%.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346E058D-5DF2-47B6-A26F-FAF237899122}"/>
              </a:ext>
            </a:extLst>
          </p:cNvPr>
          <p:cNvGraphicFramePr/>
          <p:nvPr/>
        </p:nvGraphicFramePr>
        <p:xfrm>
          <a:off xmlns:a="http://schemas.openxmlformats.org/drawingml/2006/main" x="666750" y="4810125"/>
          <a:ext xmlns:a="http://schemas.openxmlformats.org/drawingml/2006/main" cx="7715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e68216ed0c6449c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EEFBD3-4A62-49E5-BAC6-A414E9B5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0"/>
            <a:ext cx="7762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479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4798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4798B"/>
                </a:solidFill>
                <a:latin typeface="Aptos"/>
                <a:ea typeface="Aptos"/>
                <a:cs typeface="Aptos"/>
              </a:rPr>
              <a:t>Sources: Assaeroporti and official city tourism releases. Passenger movements do not identify tourists staying locally. No causal effect estimated.</a:t>
            </a:r>
          </a:p>
        </p:txBody>
      </p:sp>
    </p:spTree>
    <p:extLst>
      <p:ext uri="{BB962C8B-B14F-4D97-AF65-F5344CB8AC3E}">
        <p14:creationId xmlns:p14="http://schemas.microsoft.com/office/powerpoint/2010/main" val="19020731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15248AC-7C00-48B9-8C38-E4A99A0A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29184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100" b="1">
                <a:solidFill>
                  <a:srgbClr val="0D23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100" b="1">
                <a:solidFill>
                  <a:srgbClr val="0D233A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0D233A"/>
                </a:solidFill>
                <a:latin typeface="Aptos"/>
                <a:ea typeface="Aptos"/>
                <a:cs typeface="Aptos"/>
                <a:hlinkClick xmlns:r="http://schemas.openxmlformats.org/officeDocument/2006/relationships" r:id="R0090792ea43a4da2"/>
              </a:rPr>
              <a:t>PK / PEDRAM KOJOURI / LINKEDIN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C94C848-1830-42FE-86F1-0DDF9C84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29184"/>
            <a:ext cx="277977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>
                <a:solidFill>
                  <a:srgbClr val="6479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0" indent="0" algn="r">
              <a:buNone/>
              <a:defRPr sz="900">
                <a:solidFill>
                  <a:srgbClr val="64798B"/>
                </a:solidFill>
                <a:latin typeface="Aptos"/>
                <a:ea typeface="Aptos"/>
                <a:cs typeface="Aptos"/>
              </a:defRPr>
            </a:pPr>
            <a:r>
              <a:rPr sz="900" spc="120">
                <a:solidFill>
                  <a:srgbClr val="64798B"/>
                </a:solidFill>
                <a:latin typeface="Aptos"/>
                <a:ea typeface="Aptos"/>
                <a:cs typeface="Aptos"/>
              </a:rPr>
              <a:t>THE FINANCIAL COMPARISON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F9A762F-AF70-42E5-9962-B33EED79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768096"/>
            <a:ext cx="79004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BE5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9A0069D-877C-4C17-BA19-119AC18C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0826496"/>
            <a:ext cx="79004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BE5E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6CEC455-A907-4B46-BE7F-DD57B3A8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0981944"/>
            <a:ext cx="6949440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800">
                <a:solidFill>
                  <a:srgbClr val="6479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0" indent="0">
              <a:buNone/>
              <a:defRPr sz="800">
                <a:solidFill>
                  <a:srgbClr val="64798B"/>
                </a:solidFill>
                <a:latin typeface="Aptos"/>
                <a:ea typeface="Aptos"/>
                <a:cs typeface="Aptos"/>
              </a:defRPr>
            </a:pPr>
            <a:r>
              <a:rPr sz="800" spc="60">
                <a:solidFill>
                  <a:srgbClr val="64798B"/>
                </a:solidFill>
                <a:latin typeface="Aptos"/>
                <a:ea typeface="Aptos"/>
                <a:cs typeface="Aptos"/>
              </a:rPr>
              <a:t>DATA ANALYTICS  /  ECONOMICS  /  BUSINESS INTELLIGENCE</a:t>
            </a:r>
            <a:endParaRPr sz="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F550773-8AC8-4D0E-9C0C-9D400881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10963656"/>
            <a:ext cx="548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00" b="1">
                <a:solidFill>
                  <a:srgbClr val="0D23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0" indent="0" algn="r">
              <a:buNone/>
              <a:defRPr sz="1100" b="1">
                <a:solidFill>
                  <a:srgbClr val="0D233A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0D233A"/>
                </a:solidFill>
                <a:latin typeface="Aptos"/>
                <a:ea typeface="Aptos"/>
                <a:cs typeface="Aptos"/>
              </a:rPr>
              <a:t>05</a:t>
            </a:r>
            <a:endParaRPr sz="1100"/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7E47D8-5D66-4E92-B7DB-92C64DA6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14500"/>
            <a:ext cx="790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1">
                <a:solidFill>
                  <a:srgbClr val="0D23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0D233A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0D233A"/>
                </a:solidFill>
                <a:latin typeface="Aptos"/>
                <a:ea typeface="Aptos"/>
                <a:cs typeface="Aptos"/>
              </a:rPr>
              <a:t>A close cash comparison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85C8A9-5B95-4516-AB5A-63D19617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7762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C4C74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C4C74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C4C74"/>
                </a:solidFill>
                <a:latin typeface="Aptos"/>
                <a:ea typeface="Aptos"/>
                <a:cs typeface="Aptos"/>
              </a:rPr>
              <a:t>Annual net cash income under the base scenario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093B81-3D67-48E2-A873-5F2EFA66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771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6479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64798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798B"/>
                </a:solidFill>
                <a:latin typeface="Aptos"/>
                <a:ea typeface="Aptos"/>
                <a:cs typeface="Aptos"/>
              </a:rPr>
              <a:t>SHORT-TERM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6B2832-8B92-4FFE-BAEB-32EB37E1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771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700" b="1">
                <a:solidFill>
                  <a:srgbClr val="1C4C74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1C4C74"/>
                </a:solidFill>
                <a:latin typeface="Aptos"/>
                <a:ea typeface="Aptos"/>
                <a:cs typeface="Aptos"/>
              </a:defRPr>
            </a:pPr>
            <a:r>
              <a:rPr sz="5700" b="1">
                <a:solidFill>
                  <a:srgbClr val="1C4C74"/>
                </a:solidFill>
                <a:latin typeface="Aptos"/>
                <a:ea typeface="Aptos"/>
                <a:cs typeface="Aptos"/>
              </a:rPr>
              <a:t>€6,545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11EAE2-AFAC-48A7-A098-9FFA4E28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771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6479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64798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798B"/>
                </a:solidFill>
                <a:latin typeface="Aptos"/>
                <a:ea typeface="Aptos"/>
                <a:cs typeface="Aptos"/>
              </a:rPr>
              <a:t>LONG-TERM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A7248B-0301-4056-A05D-DB7FCE5E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0"/>
            <a:ext cx="771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700" b="1">
                <a:solidFill>
                  <a:srgbClr val="32B8B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32B8B2"/>
                </a:solidFill>
                <a:latin typeface="Aptos"/>
                <a:ea typeface="Aptos"/>
                <a:cs typeface="Aptos"/>
              </a:defRPr>
            </a:pPr>
            <a:r>
              <a:rPr sz="5700" b="1">
                <a:solidFill>
                  <a:srgbClr val="32B8B2"/>
                </a:solidFill>
                <a:latin typeface="Aptos"/>
                <a:ea typeface="Aptos"/>
                <a:cs typeface="Aptos"/>
              </a:rPr>
              <a:t>€6,678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039380-54FD-4758-BD08-A7629DC9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0"/>
            <a:ext cx="7762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479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4798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4798B"/>
                </a:solidFill>
                <a:latin typeface="Aptos"/>
                <a:ea typeface="Aptos"/>
                <a:cs typeface="Aptos"/>
              </a:rPr>
              <a:t>Modelled cash. LTR uses the unrounded 14-property mean of €894.29/month and 12 paid months. The full report preserves the historical €900 scenario.</a:t>
            </a:r>
          </a:p>
        </p:txBody>
      </p:sp>
    </p:spTree>
    <p:extLst>
      <p:ext uri="{BB962C8B-B14F-4D97-AF65-F5344CB8AC3E}">
        <p14:creationId xmlns:p14="http://schemas.microsoft.com/office/powerpoint/2010/main" val="12327658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23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C7F2F19-B2A1-4279-AD25-F92BCE75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29184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  <a:hlinkClick xmlns:r="http://schemas.openxmlformats.org/officeDocument/2006/relationships" r:id="R748177b24e444e05"/>
              </a:rPr>
              <a:t>PK / PEDRAM KOJOURI / LINKEDIN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1CE459C-A4EE-48D8-9147-C211A5AD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29184"/>
            <a:ext cx="277977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>
                <a:solidFill>
                  <a:srgbClr val="9CCAC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0" indent="0" algn="r">
              <a:buNone/>
              <a:defRPr sz="900">
                <a:solidFill>
                  <a:srgbClr val="9CCACD"/>
                </a:solidFill>
                <a:latin typeface="Aptos"/>
                <a:ea typeface="Aptos"/>
                <a:cs typeface="Aptos"/>
              </a:defRPr>
            </a:pPr>
            <a:r>
              <a:rPr sz="900" spc="120">
                <a:solidFill>
                  <a:srgbClr val="9CCACD"/>
                </a:solidFill>
                <a:latin typeface="Aptos"/>
                <a:ea typeface="Aptos"/>
                <a:cs typeface="Aptos"/>
              </a:rPr>
              <a:t>SENSITIVITY ANALYSIS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B0BC56E-D57C-4F22-82AD-E83214A7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768096"/>
            <a:ext cx="79004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BE5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3DE1B24-A719-43F2-A42F-A0CBE6AF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0826496"/>
            <a:ext cx="79004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BE5E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EDE5890-B34F-407A-A2EF-F3B6E498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0981944"/>
            <a:ext cx="6949440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800">
                <a:solidFill>
                  <a:srgbClr val="ADCDD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0" indent="0">
              <a:buNone/>
              <a:defRPr sz="800">
                <a:solidFill>
                  <a:srgbClr val="ADCDD2"/>
                </a:solidFill>
                <a:latin typeface="Aptos"/>
                <a:ea typeface="Aptos"/>
                <a:cs typeface="Aptos"/>
              </a:defRPr>
            </a:pPr>
            <a:r>
              <a:rPr sz="800" spc="60">
                <a:solidFill>
                  <a:srgbClr val="ADCDD2"/>
                </a:solidFill>
                <a:latin typeface="Aptos"/>
                <a:ea typeface="Aptos"/>
                <a:cs typeface="Aptos"/>
              </a:rPr>
              <a:t>DATA ANALYTICS  /  ECONOMICS  /  BUSINESS INTELLIGENCE</a:t>
            </a:r>
            <a:endParaRPr sz="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0EDD637-18F4-4D2D-9F49-0D472E09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10963656"/>
            <a:ext cx="548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0" indent="0" algn="r">
              <a:buNone/>
              <a:defRPr sz="1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  <a:endParaRPr sz="1100"/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056BA-842E-4BC6-8F19-76A600E4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14500"/>
            <a:ext cx="790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Price and bookings</a:t>
            </a:r>
          </a:p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change the result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F7FAA3-BF24-4E28-B6D2-E1420404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7762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ADCDD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ADCDD2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ADCDD2"/>
                </a:solidFill>
                <a:latin typeface="Aptos"/>
                <a:ea typeface="Aptos"/>
                <a:cs typeface="Aptos"/>
              </a:rPr>
              <a:t>Short-term annual net cash income, EUR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9D5BDE-53CE-443B-A556-913DDF726434}"/>
              </a:ext>
            </a:extLst>
          </p:cNvPr>
          <p:cNvGraphicFramePr/>
          <p:nvPr/>
        </p:nvGraphicFramePr>
        <p:xfrm>
          <a:off xmlns:a="http://schemas.openxmlformats.org/drawingml/2006/main" x="666750" y="5095875"/>
          <a:ext xmlns:a="http://schemas.openxmlformats.org/drawingml/2006/main" cx="7762875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40719"/>
                <a:gridCol w="1940719"/>
                <a:gridCol w="1940719"/>
                <a:gridCol w="1940719"/>
              </a:tblGrid>
              <a:tr h="8572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Booked nights</a:t>
                      </a:r>
                    </a:p>
                  </a:txBody>
                  <a:tcPr marL="91440" marR="91440" marT="45720" marB="45720">
                    <a:solidFill>
                      <a:srgbClr val="0D23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€100/night</a:t>
                      </a:r>
                    </a:p>
                  </a:txBody>
                  <a:tcPr marL="91440" marR="91440" marT="45720" marB="45720">
                    <a:solidFill>
                      <a:srgbClr val="0D23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€115/night</a:t>
                      </a:r>
                    </a:p>
                  </a:txBody>
                  <a:tcPr marL="91440" marR="91440" marT="45720" marB="45720">
                    <a:solidFill>
                      <a:srgbClr val="0D23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€130/night</a:t>
                      </a:r>
                    </a:p>
                  </a:txBody>
                  <a:tcPr marL="91440" marR="91440" marT="45720" marB="45720">
                    <a:solidFill>
                      <a:srgbClr val="0D233A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D233A"/>
                          </a:solidFill>
                          <a:latin typeface="Aptos"/>
                          <a:ea typeface="Aptos"/>
                          <a:cs typeface="Aptos"/>
                        </a:rPr>
                        <a:t>150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D233A"/>
                          </a:solidFill>
                          <a:latin typeface="Aptos"/>
                          <a:ea typeface="Aptos"/>
                          <a:cs typeface="Aptos"/>
                        </a:rPr>
                        <a:t>3,525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D233A"/>
                          </a:solidFill>
                          <a:latin typeface="Aptos"/>
                          <a:ea typeface="Aptos"/>
                          <a:cs typeface="Aptos"/>
                        </a:rPr>
                        <a:t>4,954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D233A"/>
                          </a:solidFill>
                          <a:latin typeface="Aptos"/>
                          <a:ea typeface="Aptos"/>
                          <a:cs typeface="Aptos"/>
                        </a:rPr>
                        <a:t>6,383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D233A"/>
                          </a:solidFill>
                          <a:latin typeface="Aptos"/>
                          <a:ea typeface="Aptos"/>
                          <a:cs typeface="Aptos"/>
                        </a:rPr>
                        <a:t>180</a:t>
                      </a:r>
                    </a:p>
                  </a:txBody>
                  <a:tcPr marL="91440" marR="91440" marT="45720" marB="45720">
                    <a:solidFill>
                      <a:srgbClr val="E9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D233A"/>
                          </a:solidFill>
                          <a:latin typeface="Aptos"/>
                          <a:ea typeface="Aptos"/>
                          <a:cs typeface="Aptos"/>
                        </a:rPr>
                        <a:t>4,830</a:t>
                      </a:r>
                    </a:p>
                  </a:txBody>
                  <a:tcPr marL="91440" marR="91440" marT="45720" marB="45720">
                    <a:solidFill>
                      <a:srgbClr val="E9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D233A"/>
                          </a:solidFill>
                          <a:latin typeface="Aptos"/>
                          <a:ea typeface="Aptos"/>
                          <a:cs typeface="Aptos"/>
                        </a:rPr>
                        <a:t>6,545</a:t>
                      </a:r>
                    </a:p>
                  </a:txBody>
                  <a:tcPr marL="91440" marR="91440" marT="45720" marB="45720">
                    <a:solidFill>
                      <a:srgbClr val="E9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D233A"/>
                          </a:solidFill>
                          <a:latin typeface="Aptos"/>
                          <a:ea typeface="Aptos"/>
                          <a:cs typeface="Aptos"/>
                        </a:rPr>
                        <a:t>8,259</a:t>
                      </a:r>
                    </a:p>
                  </a:txBody>
                  <a:tcPr marL="91440" marR="91440" marT="45720" marB="45720">
                    <a:solidFill>
                      <a:srgbClr val="E9EFF4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D233A"/>
                          </a:solidFill>
                          <a:latin typeface="Aptos"/>
                          <a:ea typeface="Aptos"/>
                          <a:cs typeface="Aptos"/>
                        </a:rPr>
                        <a:t>210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D233A"/>
                          </a:solidFill>
                          <a:latin typeface="Aptos"/>
                          <a:ea typeface="Aptos"/>
                          <a:cs typeface="Aptos"/>
                        </a:rPr>
                        <a:t>6,135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D233A"/>
                          </a:solidFill>
                          <a:latin typeface="Aptos"/>
                          <a:ea typeface="Aptos"/>
                          <a:cs typeface="Aptos"/>
                        </a:rPr>
                        <a:t>8,135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D233A"/>
                          </a:solidFill>
                          <a:latin typeface="Aptos"/>
                          <a:ea typeface="Aptos"/>
                          <a:cs typeface="Aptos"/>
                        </a:rPr>
                        <a:t>10,136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DFC33A-F3F5-4402-AFD7-1857E1C1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0"/>
            <a:ext cx="7762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Long-term scenario: €6,678/year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73A069-265B-416D-B176-BA3406EB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72625"/>
            <a:ext cx="7762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ADCDD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ADCDD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ADCDD2"/>
                </a:solidFill>
                <a:latin typeface="Aptos"/>
                <a:ea typeface="Aptos"/>
                <a:cs typeface="Aptos"/>
              </a:rPr>
              <a:t>Conditional combinations. Higher prices may reduce bookings.</a:t>
            </a:r>
          </a:p>
        </p:txBody>
      </p:sp>
    </p:spTree>
    <p:extLst>
      <p:ext uri="{BB962C8B-B14F-4D97-AF65-F5344CB8AC3E}">
        <p14:creationId xmlns:p14="http://schemas.microsoft.com/office/powerpoint/2010/main" val="3824907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CC283DB-1E25-4490-BF84-D21CEAFF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29184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100" b="1">
                <a:solidFill>
                  <a:srgbClr val="0D23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100" b="1">
                <a:solidFill>
                  <a:srgbClr val="0D233A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0D233A"/>
                </a:solidFill>
                <a:latin typeface="Aptos"/>
                <a:ea typeface="Aptos"/>
                <a:cs typeface="Aptos"/>
                <a:hlinkClick xmlns:r="http://schemas.openxmlformats.org/officeDocument/2006/relationships" r:id="R482f0f520aff425d"/>
              </a:rPr>
              <a:t>PK / PEDRAM KOJOURI / LINKEDIN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685CA01-710E-464A-B437-0E5D9F38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29184"/>
            <a:ext cx="277977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>
                <a:solidFill>
                  <a:srgbClr val="6479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0" indent="0" algn="r">
              <a:buNone/>
              <a:defRPr sz="900">
                <a:solidFill>
                  <a:srgbClr val="64798B"/>
                </a:solidFill>
                <a:latin typeface="Aptos"/>
                <a:ea typeface="Aptos"/>
                <a:cs typeface="Aptos"/>
              </a:defRPr>
            </a:pPr>
            <a:r>
              <a:rPr sz="900" spc="120">
                <a:solidFill>
                  <a:srgbClr val="64798B"/>
                </a:solidFill>
                <a:latin typeface="Aptos"/>
                <a:ea typeface="Aptos"/>
                <a:cs typeface="Aptos"/>
              </a:rPr>
              <a:t>PREPARATION COSTS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73DA8BE-6619-48F6-B0C2-70C123B6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768096"/>
            <a:ext cx="79004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527089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A3707DE-CFA1-41BB-BF4A-37A8B954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0826496"/>
            <a:ext cx="79004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527089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5FB1A50-F1EA-4CD8-AAB9-3F77BBE5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0981944"/>
            <a:ext cx="6949440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800">
                <a:solidFill>
                  <a:srgbClr val="6479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0" indent="0">
              <a:buNone/>
              <a:defRPr sz="800">
                <a:solidFill>
                  <a:srgbClr val="64798B"/>
                </a:solidFill>
                <a:latin typeface="Aptos"/>
                <a:ea typeface="Aptos"/>
                <a:cs typeface="Aptos"/>
              </a:defRPr>
            </a:pPr>
            <a:r>
              <a:rPr sz="800" spc="60">
                <a:solidFill>
                  <a:srgbClr val="64798B"/>
                </a:solidFill>
                <a:latin typeface="Aptos"/>
                <a:ea typeface="Aptos"/>
                <a:cs typeface="Aptos"/>
              </a:rPr>
              <a:t>DATA ANALYTICS  /  ECONOMICS  /  BUSINESS INTELLIGENCE</a:t>
            </a:r>
            <a:endParaRPr sz="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1583540-4AC9-44A7-8F3D-64C65873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10963656"/>
            <a:ext cx="548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00" b="1">
                <a:solidFill>
                  <a:srgbClr val="0D23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0" indent="0" algn="r">
              <a:buNone/>
              <a:defRPr sz="1100" b="1">
                <a:solidFill>
                  <a:srgbClr val="0D233A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0D233A"/>
                </a:solidFill>
                <a:latin typeface="Aptos"/>
                <a:ea typeface="Aptos"/>
                <a:cs typeface="Aptos"/>
              </a:rPr>
              <a:t>07</a:t>
            </a:r>
            <a:endParaRPr sz="1100"/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88B43-4E3C-4257-8773-06DF57E2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14500"/>
            <a:ext cx="790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1">
                <a:solidFill>
                  <a:srgbClr val="0D23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0D233A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0D233A"/>
                </a:solidFill>
                <a:latin typeface="Aptos"/>
                <a:ea typeface="Aptos"/>
                <a:cs typeface="Aptos"/>
              </a:rPr>
              <a:t>Conversion raises</a:t>
            </a:r>
          </a:p>
          <a:p xmlns:a="http://schemas.openxmlformats.org/drawingml/2006/main">
            <a:pPr>
              <a:defRPr sz="4200" b="1">
                <a:solidFill>
                  <a:srgbClr val="0D233A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0D233A"/>
                </a:solidFill>
                <a:latin typeface="Aptos"/>
                <a:ea typeface="Aptos"/>
                <a:cs typeface="Aptos"/>
              </a:rPr>
              <a:t>the required bookings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2FBC95-46E2-49A9-9AD1-5E186FCF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7762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C4C74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C4C74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C4C74"/>
                </a:solidFill>
                <a:latin typeface="Aptos"/>
                <a:ea typeface="Aptos"/>
                <a:cs typeface="Aptos"/>
              </a:rPr>
              <a:t>At €115 gross nightly revenue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7DBF29CF-B74D-43E2-AED5-1F1E4CB1F4FB}"/>
              </a:ext>
            </a:extLst>
          </p:cNvPr>
          <p:cNvGraphicFramePr/>
          <p:nvPr/>
        </p:nvGraphicFramePr>
        <p:xfrm>
          <a:off xmlns:a="http://schemas.openxmlformats.org/drawingml/2006/main" x="666750" y="4857750"/>
          <a:ext xmlns:a="http://schemas.openxmlformats.org/drawingml/2006/main" cx="77152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2aebaffdc7940c7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850A38-3E0F-4FE6-83CD-A2563641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0"/>
            <a:ext cx="7762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479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4798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4798B"/>
                </a:solidFill>
                <a:latin typeface="Aptos"/>
                <a:ea typeface="Aptos"/>
                <a:cs typeface="Aptos"/>
              </a:rPr>
              <a:t>Sample-mean LTR alternative. Incremental setup recovered over five years. At €115/night: 183 nights without extra setup, 240 with €15,000.</a:t>
            </a:r>
          </a:p>
        </p:txBody>
      </p:sp>
    </p:spTree>
    <p:extLst>
      <p:ext uri="{BB962C8B-B14F-4D97-AF65-F5344CB8AC3E}">
        <p14:creationId xmlns:p14="http://schemas.microsoft.com/office/powerpoint/2010/main" val="17536134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10F80AB-A3F3-45F7-8460-65D5FE9F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29184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100" b="1">
                <a:solidFill>
                  <a:srgbClr val="0D23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100" b="1">
                <a:solidFill>
                  <a:srgbClr val="0D233A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0D233A"/>
                </a:solidFill>
                <a:latin typeface="Aptos"/>
                <a:ea typeface="Aptos"/>
                <a:cs typeface="Aptos"/>
                <a:hlinkClick xmlns:r="http://schemas.openxmlformats.org/officeDocument/2006/relationships" r:id="R3f58359c8bfe48b9"/>
              </a:rPr>
              <a:t>PK / PEDRAM KOJOURI / LINKEDIN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4F7D007-A925-4150-A5AD-15BE0943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29184"/>
            <a:ext cx="277977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>
                <a:solidFill>
                  <a:srgbClr val="6479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0" indent="0" algn="r">
              <a:buNone/>
              <a:defRPr sz="900">
                <a:solidFill>
                  <a:srgbClr val="64798B"/>
                </a:solidFill>
                <a:latin typeface="Aptos"/>
                <a:ea typeface="Aptos"/>
                <a:cs typeface="Aptos"/>
              </a:defRPr>
            </a:pPr>
            <a:r>
              <a:rPr sz="900" spc="120">
                <a:solidFill>
                  <a:srgbClr val="64798B"/>
                </a:solidFill>
                <a:latin typeface="Aptos"/>
                <a:ea typeface="Aptos"/>
                <a:cs typeface="Aptos"/>
              </a:rPr>
              <a:t>RENTAL MARKET EVIDENCE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CD0D01E-6BB7-4DB3-AEDA-8AF0FC29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768096"/>
            <a:ext cx="79004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BE5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9A71489-BD16-4031-94B6-8C49E267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0826496"/>
            <a:ext cx="79004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BE5E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CC98B79-7EEC-42D3-B589-88B2889C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0981944"/>
            <a:ext cx="6949440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800">
                <a:solidFill>
                  <a:srgbClr val="6479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0" indent="0">
              <a:buNone/>
              <a:defRPr sz="800">
                <a:solidFill>
                  <a:srgbClr val="64798B"/>
                </a:solidFill>
                <a:latin typeface="Aptos"/>
                <a:ea typeface="Aptos"/>
                <a:cs typeface="Aptos"/>
              </a:defRPr>
            </a:pPr>
            <a:r>
              <a:rPr sz="800" spc="60">
                <a:solidFill>
                  <a:srgbClr val="64798B"/>
                </a:solidFill>
                <a:latin typeface="Aptos"/>
                <a:ea typeface="Aptos"/>
                <a:cs typeface="Aptos"/>
              </a:rPr>
              <a:t>DATA ANALYTICS  /  ECONOMICS  /  BUSINESS INTELLIGENCE</a:t>
            </a:r>
            <a:endParaRPr sz="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F4D391B-42A8-456D-A197-A9028286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10963656"/>
            <a:ext cx="548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00" b="1">
                <a:solidFill>
                  <a:srgbClr val="0D23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0" indent="0" algn="r">
              <a:buNone/>
              <a:defRPr sz="1100" b="1">
                <a:solidFill>
                  <a:srgbClr val="0D233A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0D233A"/>
                </a:solidFill>
                <a:latin typeface="Aptos"/>
                <a:ea typeface="Aptos"/>
                <a:cs typeface="Aptos"/>
              </a:rPr>
              <a:t>08</a:t>
            </a:r>
            <a:endParaRPr sz="1100"/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78DA84-1B2B-40DB-BD6D-6E0F048B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14500"/>
            <a:ext cx="790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1">
                <a:solidFill>
                  <a:srgbClr val="0D23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0D233A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0D233A"/>
                </a:solidFill>
                <a:latin typeface="Aptos"/>
                <a:ea typeface="Aptos"/>
                <a:cs typeface="Aptos"/>
              </a:rPr>
              <a:t>A selected sample of</a:t>
            </a:r>
          </a:p>
          <a:p xmlns:a="http://schemas.openxmlformats.org/drawingml/2006/main">
            <a:pPr>
              <a:defRPr sz="4200" b="1">
                <a:solidFill>
                  <a:srgbClr val="0D233A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0D233A"/>
                </a:solidFill>
                <a:latin typeface="Aptos"/>
                <a:ea typeface="Aptos"/>
                <a:cs typeface="Aptos"/>
              </a:rPr>
              <a:t>14 comparable properties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581DA-429E-4365-A608-0E44D968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7762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C4C74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C4C74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C4C74"/>
                </a:solidFill>
                <a:latin typeface="Aptos"/>
                <a:ea typeface="Aptos"/>
                <a:cs typeface="Aptos"/>
              </a:rPr>
              <a:t>Central furnished one-bedroom offers with an explicit 4+4 contract.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E06BCC-BACA-4A42-A57E-80091ACF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7762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32B8B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32B8B2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32B8B2"/>
                </a:solidFill>
                <a:latin typeface="Aptos"/>
                <a:ea typeface="Aptos"/>
                <a:cs typeface="Aptos"/>
              </a:rPr>
              <a:t>€894.29 mean base rent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C4D819-21E9-4BD3-BD13-526675E3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0"/>
            <a:ext cx="7762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C4C74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C4C74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C4C74"/>
                </a:solidFill>
                <a:latin typeface="Aptos"/>
                <a:ea typeface="Aptos"/>
                <a:cs typeface="Aptos"/>
              </a:rPr>
              <a:t>Median €850/month. Asking rents exclude separately billed charges. This convenience sample does not represent all Bergamo.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A4CAAC-333B-45BB-89B0-DFB4C39F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0"/>
            <a:ext cx="7762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0D23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0D233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D233A"/>
                </a:solidFill>
                <a:latin typeface="Aptos"/>
                <a:ea typeface="Aptos"/>
                <a:cs typeface="Aptos"/>
              </a:rPr>
              <a:t>96 candidates reviewed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E2A9EF-DB21-446C-AB29-8715C945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0"/>
            <a:ext cx="7762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C4C74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C4C74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C4C74"/>
                </a:solidFill>
                <a:latin typeface="Aptos"/>
                <a:ea typeface="Aptos"/>
                <a:cs typeface="Aptos"/>
              </a:rPr>
              <a:t>21 original records, 20 leads and 55 additional offers. Two duplicate clusters confirmed. The 20-property target remained unmet.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3EF35C-3053-4163-A3D5-4CAFF297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0"/>
            <a:ext cx="7762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479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4798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4798B"/>
                </a:solidFill>
                <a:latin typeface="Aptos"/>
                <a:ea typeface="Aptos"/>
                <a:cs typeface="Aptos"/>
              </a:rPr>
              <a:t>Manual online listing review. Sources, identity decisions and all unresolved records are available in the complete audit.</a:t>
            </a:r>
          </a:p>
        </p:txBody>
      </p:sp>
    </p:spTree>
    <p:extLst>
      <p:ext uri="{BB962C8B-B14F-4D97-AF65-F5344CB8AC3E}">
        <p14:creationId xmlns:p14="http://schemas.microsoft.com/office/powerpoint/2010/main" val="20957271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7897BBC-4EE1-4162-9F6A-A16238A4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29184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100" b="1">
                <a:solidFill>
                  <a:srgbClr val="0D23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100" b="1">
                <a:solidFill>
                  <a:srgbClr val="0D233A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0D233A"/>
                </a:solidFill>
                <a:latin typeface="Aptos"/>
                <a:ea typeface="Aptos"/>
                <a:cs typeface="Aptos"/>
                <a:hlinkClick xmlns:r="http://schemas.openxmlformats.org/officeDocument/2006/relationships" r:id="Rc0da318bfdc14087"/>
              </a:rPr>
              <a:t>PK / PEDRAM KOJOURI / LINKEDIN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242133D-82B6-4060-BD0D-F71F8275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29184"/>
            <a:ext cx="277977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>
                <a:solidFill>
                  <a:srgbClr val="6479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0" indent="0" algn="r">
              <a:buNone/>
              <a:defRPr sz="900">
                <a:solidFill>
                  <a:srgbClr val="64798B"/>
                </a:solidFill>
                <a:latin typeface="Aptos"/>
                <a:ea typeface="Aptos"/>
                <a:cs typeface="Aptos"/>
              </a:defRPr>
            </a:pPr>
            <a:r>
              <a:rPr sz="900" spc="120">
                <a:solidFill>
                  <a:srgbClr val="64798B"/>
                </a:solidFill>
                <a:latin typeface="Aptos"/>
                <a:ea typeface="Aptos"/>
                <a:cs typeface="Aptos"/>
              </a:rPr>
              <a:t>FULL PROJECT AND CONTACT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7EB8A9B-DD33-41BB-B5AB-A39A78A2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768096"/>
            <a:ext cx="79004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BE5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D626D00-14CD-4776-BFC6-80F89965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0826496"/>
            <a:ext cx="79004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BE5E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F813B17-49C7-42D3-B3EF-4268BFC1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0981944"/>
            <a:ext cx="6949440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800">
                <a:solidFill>
                  <a:srgbClr val="6479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0" indent="0">
              <a:buNone/>
              <a:defRPr sz="800">
                <a:solidFill>
                  <a:srgbClr val="64798B"/>
                </a:solidFill>
                <a:latin typeface="Aptos"/>
                <a:ea typeface="Aptos"/>
                <a:cs typeface="Aptos"/>
              </a:defRPr>
            </a:pPr>
            <a:r>
              <a:rPr sz="800" spc="60">
                <a:solidFill>
                  <a:srgbClr val="64798B"/>
                </a:solidFill>
                <a:latin typeface="Aptos"/>
                <a:ea typeface="Aptos"/>
                <a:cs typeface="Aptos"/>
              </a:rPr>
              <a:t>DATA ANALYTICS  /  ECONOMICS  /  BUSINESS INTELLIGENCE</a:t>
            </a:r>
            <a:endParaRPr sz="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3CAE5B2-4A69-4159-91C8-6FBA069E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10963656"/>
            <a:ext cx="548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00" b="1">
                <a:solidFill>
                  <a:srgbClr val="0D23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0" indent="0" algn="r">
              <a:buNone/>
              <a:defRPr sz="1100" b="1">
                <a:solidFill>
                  <a:srgbClr val="0D233A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0D233A"/>
                </a:solidFill>
                <a:latin typeface="Aptos"/>
                <a:ea typeface="Aptos"/>
                <a:cs typeface="Aptos"/>
              </a:rPr>
              <a:t>09</a:t>
            </a:r>
            <a:endParaRPr sz="1100"/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748B58-C494-4A14-AF63-4C20627D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14500"/>
            <a:ext cx="790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1">
                <a:solidFill>
                  <a:srgbClr val="0D23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0D233A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0D233A"/>
                </a:solidFill>
                <a:latin typeface="Aptos"/>
                <a:ea typeface="Aptos"/>
                <a:cs typeface="Aptos"/>
              </a:rPr>
              <a:t>A conditional</a:t>
            </a:r>
          </a:p>
          <a:p xmlns:a="http://schemas.openxmlformats.org/drawingml/2006/main">
            <a:pPr>
              <a:defRPr sz="4200" b="1">
                <a:solidFill>
                  <a:srgbClr val="0D233A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0D233A"/>
                </a:solidFill>
                <a:latin typeface="Aptos"/>
                <a:ea typeface="Aptos"/>
                <a:cs typeface="Aptos"/>
              </a:rPr>
              <a:t>business opportunity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4B5C65-BA10-49E2-8586-9A35711B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7762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C4C74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C4C74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C4C74"/>
                </a:solidFill>
                <a:latin typeface="Aptos"/>
                <a:ea typeface="Aptos"/>
                <a:cs typeface="Aptos"/>
              </a:rPr>
              <a:t>The sample-mean scenario leaves a €133.33 annual gap. Property-level bookings, costs and paid months can reverse the ranking.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750033-C24E-4A8D-A730-4B01911E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77628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C4C74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C4C7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C4C74"/>
                </a:solidFill>
                <a:latin typeface="Aptos"/>
                <a:ea typeface="Aptos"/>
                <a:cs typeface="Aptos"/>
              </a:rPr>
              <a:t>Growth creates demand.</a:t>
            </a:r>
          </a:p>
          <a:p xmlns:a="http://schemas.openxmlformats.org/drawingml/2006/main">
            <a:pPr>
              <a:defRPr sz="2700" b="1">
                <a:solidFill>
                  <a:srgbClr val="1C4C7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C4C74"/>
                </a:solidFill>
                <a:latin typeface="Aptos"/>
                <a:ea typeface="Aptos"/>
                <a:cs typeface="Aptos"/>
              </a:rPr>
              <a:t>Costs and alternatives determine retained cash.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3CA5DB-354B-4AA2-9D41-8FBCC5C9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0"/>
            <a:ext cx="7762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6479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64798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64798B"/>
                </a:solidFill>
                <a:latin typeface="Aptos"/>
                <a:ea typeface="Aptos"/>
                <a:cs typeface="Aptos"/>
              </a:rPr>
              <a:t>REPORT, DATA AND PYTHON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75CB15-A5D2-45B0-AB92-249D71AE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477250"/>
            <a:ext cx="7762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C4C74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C4C74"/>
                </a:solidFill>
                <a:latin typeface="Aptos"/>
                <a:ea typeface="Aptos"/>
                <a:cs typeface="Aptos"/>
              </a:defRPr>
            </a:pPr>
            <a:r>
              <a:rPr>
                <a:hlinkClick xmlns:r="http://schemas.openxmlformats.org/officeDocument/2006/relationships" r:id="R34e35381928c46b5"/>
              </a:rPr>
              <a:t>github.com/pedramkj/</a:t>
            </a:r>
          </a:p>
          <a:p xmlns:a="http://schemas.openxmlformats.org/drawingml/2006/main">
            <a:pPr>
              <a:defRPr sz="2100" b="0">
                <a:solidFill>
                  <a:srgbClr val="1C4C74"/>
                </a:solidFill>
                <a:latin typeface="Aptos"/>
                <a:ea typeface="Aptos"/>
                <a:cs typeface="Aptos"/>
              </a:defRPr>
            </a:pPr>
            <a:r>
              <a:rPr>
                <a:hlinkClick xmlns:r="http://schemas.openxmlformats.org/officeDocument/2006/relationships" r:id="Rebc0aac6570f44d3"/>
              </a:rPr>
              <a:t>bergamo-rental-strategy-analysis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84DC68-2C35-4C8F-AF51-86E4A627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0"/>
            <a:ext cx="7762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32B8B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32B8B2"/>
                </a:solidFill>
                <a:latin typeface="Aptos"/>
                <a:ea typeface="Aptos"/>
                <a:cs typeface="Aptos"/>
              </a:defRPr>
            </a:pPr>
            <a:r>
              <a:rPr>
                <a:hlinkClick xmlns:r="http://schemas.openxmlformats.org/officeDocument/2006/relationships" r:id="R23f052c4eb714e51"/>
              </a:rPr>
              <a:t>linkedin.com/in/pedram-kojouri</a:t>
            </a:r>
          </a:p>
        </p:txBody>
      </p:sp>
    </p:spTree>
    <p:extLst>
      <p:ext uri="{BB962C8B-B14F-4D97-AF65-F5344CB8AC3E}">
        <p14:creationId xmlns:p14="http://schemas.microsoft.com/office/powerpoint/2010/main" val="38730266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Pedram Kojouri</dc:creator>
  <lastModifiedBy>Pedram Kojouri</lastModifiedBy>
  <dc:title>More Tourists, More Profit?</dc:title>
  <dcterms:created xsi:type="dcterms:W3CDTF">2026-10-13T14:27:12.1530000Z</dcterms:created>
  <dcterms:modified xsi:type="dcterms:W3CDTF">2026-10-13T14:27:12.1530000Z</dcterms:modified>
</coreProperties>
</file>